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0104100" cy="12204700"/>
  <p:notesSz cx="20104100" cy="12204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326765"/>
            <a:ext cx="17088486" cy="2253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131313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009640"/>
            <a:ext cx="14072870" cy="2682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0" i="0">
                <a:solidFill>
                  <a:srgbClr val="131313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0" i="0">
                <a:solidFill>
                  <a:srgbClr val="131313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468245"/>
            <a:ext cx="8745284" cy="7082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468245"/>
            <a:ext cx="8745284" cy="7082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0" i="0">
                <a:solidFill>
                  <a:srgbClr val="131313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393417" y="1745013"/>
            <a:ext cx="937259" cy="916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131313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468245"/>
            <a:ext cx="18093690" cy="7082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9980295"/>
            <a:ext cx="6433312" cy="536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9980295"/>
            <a:ext cx="4623943" cy="536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9980295"/>
            <a:ext cx="4623943" cy="536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38.pn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Relationship Id="rId10" Type="http://schemas.openxmlformats.org/officeDocument/2006/relationships/image" Target="../media/image42.jpg"/><Relationship Id="rId11" Type="http://schemas.openxmlformats.org/officeDocument/2006/relationships/image" Target="../media/image43.jpg"/><Relationship Id="rId12" Type="http://schemas.openxmlformats.org/officeDocument/2006/relationships/image" Target="../media/image44.jpg"/><Relationship Id="rId13" Type="http://schemas.openxmlformats.org/officeDocument/2006/relationships/image" Target="../media/image45.jpg"/><Relationship Id="rId14" Type="http://schemas.openxmlformats.org/officeDocument/2006/relationships/image" Target="../media/image46.jpg"/><Relationship Id="rId15" Type="http://schemas.openxmlformats.org/officeDocument/2006/relationships/image" Target="../media/image47.jpg"/><Relationship Id="rId16" Type="http://schemas.openxmlformats.org/officeDocument/2006/relationships/image" Target="../media/image48.jpg"/><Relationship Id="rId17" Type="http://schemas.openxmlformats.org/officeDocument/2006/relationships/image" Target="../media/image49.png"/><Relationship Id="rId18" Type="http://schemas.openxmlformats.org/officeDocument/2006/relationships/image" Target="../media/image50.jpg"/><Relationship Id="rId19" Type="http://schemas.openxmlformats.org/officeDocument/2006/relationships/image" Target="../media/image51.jpg"/><Relationship Id="rId20" Type="http://schemas.openxmlformats.org/officeDocument/2006/relationships/image" Target="../media/image5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jpg"/><Relationship Id="rId5" Type="http://schemas.openxmlformats.org/officeDocument/2006/relationships/image" Target="../media/image68.jpg"/><Relationship Id="rId6" Type="http://schemas.openxmlformats.org/officeDocument/2006/relationships/image" Target="../media/image6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65.png"/><Relationship Id="rId6" Type="http://schemas.openxmlformats.org/officeDocument/2006/relationships/image" Target="../media/image73.png"/><Relationship Id="rId7" Type="http://schemas.openxmlformats.org/officeDocument/2006/relationships/image" Target="../media/image74.jpg"/><Relationship Id="rId8" Type="http://schemas.openxmlformats.org/officeDocument/2006/relationships/image" Target="../media/image75.jpg"/><Relationship Id="rId9" Type="http://schemas.openxmlformats.org/officeDocument/2006/relationships/image" Target="../media/image76.jpg"/><Relationship Id="rId10" Type="http://schemas.openxmlformats.org/officeDocument/2006/relationships/image" Target="../media/image77.jpg"/><Relationship Id="rId11" Type="http://schemas.openxmlformats.org/officeDocument/2006/relationships/image" Target="../media/image78.png"/><Relationship Id="rId12" Type="http://schemas.openxmlformats.org/officeDocument/2006/relationships/image" Target="../media/image7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Relationship Id="rId10" Type="http://schemas.openxmlformats.org/officeDocument/2006/relationships/image" Target="../media/image88.png"/><Relationship Id="rId11" Type="http://schemas.openxmlformats.org/officeDocument/2006/relationships/image" Target="../media/image89.png"/><Relationship Id="rId12" Type="http://schemas.openxmlformats.org/officeDocument/2006/relationships/image" Target="../media/image90.png"/><Relationship Id="rId13" Type="http://schemas.openxmlformats.org/officeDocument/2006/relationships/image" Target="../media/image91.png"/><Relationship Id="rId14" Type="http://schemas.openxmlformats.org/officeDocument/2006/relationships/image" Target="../media/image92.png"/><Relationship Id="rId15" Type="http://schemas.openxmlformats.org/officeDocument/2006/relationships/image" Target="../media/image93.png"/><Relationship Id="rId16" Type="http://schemas.openxmlformats.org/officeDocument/2006/relationships/image" Target="../media/image94.png"/><Relationship Id="rId17" Type="http://schemas.openxmlformats.org/officeDocument/2006/relationships/image" Target="../media/image95.png"/><Relationship Id="rId18" Type="http://schemas.openxmlformats.org/officeDocument/2006/relationships/image" Target="../media/image96.png"/><Relationship Id="rId19" Type="http://schemas.openxmlformats.org/officeDocument/2006/relationships/image" Target="../media/image97.jpg"/><Relationship Id="rId20" Type="http://schemas.openxmlformats.org/officeDocument/2006/relationships/image" Target="../media/image9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jpg"/><Relationship Id="rId3" Type="http://schemas.openxmlformats.org/officeDocument/2006/relationships/image" Target="../media/image10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jp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Relationship Id="rId8" Type="http://schemas.openxmlformats.org/officeDocument/2006/relationships/image" Target="../media/image107.png"/><Relationship Id="rId9" Type="http://schemas.openxmlformats.org/officeDocument/2006/relationships/image" Target="../media/image108.png"/><Relationship Id="rId10" Type="http://schemas.openxmlformats.org/officeDocument/2006/relationships/image" Target="../media/image109.png"/><Relationship Id="rId11" Type="http://schemas.openxmlformats.org/officeDocument/2006/relationships/image" Target="../media/image110.png"/><Relationship Id="rId12" Type="http://schemas.openxmlformats.org/officeDocument/2006/relationships/image" Target="../media/image111.png"/><Relationship Id="rId13" Type="http://schemas.openxmlformats.org/officeDocument/2006/relationships/image" Target="../media/image112.png"/><Relationship Id="rId14" Type="http://schemas.openxmlformats.org/officeDocument/2006/relationships/image" Target="../media/image113.png"/><Relationship Id="rId15" Type="http://schemas.openxmlformats.org/officeDocument/2006/relationships/image" Target="../media/image114.png"/><Relationship Id="rId16" Type="http://schemas.openxmlformats.org/officeDocument/2006/relationships/image" Target="../media/image115.png"/><Relationship Id="rId17" Type="http://schemas.openxmlformats.org/officeDocument/2006/relationships/image" Target="../media/image116.png"/><Relationship Id="rId18" Type="http://schemas.openxmlformats.org/officeDocument/2006/relationships/image" Target="../media/image11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376"/>
            <a:ext cx="7539038" cy="1072219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19632" y="5134924"/>
            <a:ext cx="460718" cy="52773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7365" y="5260575"/>
            <a:ext cx="368575" cy="41045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2953" y="5260575"/>
            <a:ext cx="351821" cy="41883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66152" y="5268952"/>
            <a:ext cx="309938" cy="40208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28009" y="4188356"/>
            <a:ext cx="477472" cy="54448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80872" y="4330760"/>
            <a:ext cx="360198" cy="41045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747317" y="4330760"/>
            <a:ext cx="586369" cy="39370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17453" y="4330760"/>
            <a:ext cx="368575" cy="402082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861413" y="4322383"/>
            <a:ext cx="242924" cy="410458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330510" y="4179979"/>
            <a:ext cx="385328" cy="56123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782857" y="4171603"/>
            <a:ext cx="368575" cy="56123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210066" y="4322383"/>
            <a:ext cx="393705" cy="41883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687539" y="4339137"/>
            <a:ext cx="393705" cy="552863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156636" y="4322383"/>
            <a:ext cx="410458" cy="569616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4826769" y="4322383"/>
            <a:ext cx="368575" cy="410458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245613" y="4322383"/>
            <a:ext cx="402082" cy="586369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5890620" y="4188356"/>
            <a:ext cx="393705" cy="544486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6351330" y="4330760"/>
            <a:ext cx="360198" cy="402082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803676" y="4179979"/>
            <a:ext cx="343445" cy="544486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8227721" y="4339137"/>
            <a:ext cx="376951" cy="393705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8688431" y="4322383"/>
            <a:ext cx="234547" cy="410458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9573221" y="3938978"/>
            <a:ext cx="1585595" cy="1861820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 sz="4900" spc="50">
                <a:solidFill>
                  <a:srgbClr val="131313"/>
                </a:solidFill>
                <a:latin typeface="Lucida Sans Unicode"/>
                <a:cs typeface="Lucida Sans Unicode"/>
              </a:rPr>
              <a:t>StO</a:t>
            </a:r>
            <a:endParaRPr sz="4900">
              <a:latin typeface="Lucida Sans Unicode"/>
              <a:cs typeface="Lucida Sans Unicode"/>
            </a:endParaRPr>
          </a:p>
          <a:p>
            <a:pPr marL="384810">
              <a:lnSpc>
                <a:spcPct val="100000"/>
              </a:lnSpc>
              <a:spcBef>
                <a:spcPts val="1245"/>
              </a:spcBef>
            </a:pPr>
            <a:r>
              <a:rPr dirty="0" sz="5100" spc="204">
                <a:latin typeface="Lucida Sans Unicode"/>
                <a:cs typeface="Lucida Sans Unicode"/>
              </a:rPr>
              <a:t>IySİ</a:t>
            </a:r>
            <a:endParaRPr sz="51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14564568" y="3942504"/>
            <a:ext cx="3649345" cy="94361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627630" algn="l"/>
              </a:tabLst>
            </a:pPr>
            <a:r>
              <a:rPr dirty="0" sz="6000" spc="155"/>
              <a:t>i</a:t>
            </a:r>
            <a:r>
              <a:rPr dirty="0" sz="6000"/>
              <a:t>	</a:t>
            </a:r>
            <a:r>
              <a:rPr dirty="0" sz="6000" spc="-60">
                <a:solidFill>
                  <a:srgbClr val="0F0F0F"/>
                </a:solidFill>
              </a:rPr>
              <a:t>avi</a:t>
            </a:r>
            <a:endParaRPr sz="6000"/>
          </a:p>
        </p:txBody>
      </p:sp>
      <p:sp>
        <p:nvSpPr>
          <p:cNvPr id="26" name="object 26" descr=""/>
          <p:cNvSpPr txBox="1"/>
          <p:nvPr/>
        </p:nvSpPr>
        <p:spPr>
          <a:xfrm>
            <a:off x="8578133" y="6231023"/>
            <a:ext cx="10134600" cy="1005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" marR="5080" indent="-3175">
              <a:lnSpc>
                <a:spcPct val="123700"/>
              </a:lnSpc>
              <a:spcBef>
                <a:spcPts val="100"/>
              </a:spcBef>
            </a:pPr>
            <a:r>
              <a:rPr dirty="0" sz="2600" spc="-170">
                <a:latin typeface="Lucida Sans Unicode"/>
                <a:cs typeface="Lucida Sans Unicode"/>
              </a:rPr>
              <a:t>Uncovering</a:t>
            </a:r>
            <a:r>
              <a:rPr dirty="0" sz="2600" spc="-30">
                <a:latin typeface="Lucida Sans Unicode"/>
                <a:cs typeface="Lucida Sans Unicode"/>
              </a:rPr>
              <a:t> </a:t>
            </a:r>
            <a:r>
              <a:rPr dirty="0" sz="2600" spc="-185">
                <a:latin typeface="Lucida Sans Unicode"/>
                <a:cs typeface="Lucida Sans Unicode"/>
              </a:rPr>
              <a:t>insights</a:t>
            </a:r>
            <a:r>
              <a:rPr dirty="0" sz="2600" spc="-70">
                <a:latin typeface="Lucida Sans Unicode"/>
                <a:cs typeface="Lucida Sans Unicode"/>
              </a:rPr>
              <a:t> </a:t>
            </a:r>
            <a:r>
              <a:rPr dirty="0" sz="2600" spc="-225">
                <a:latin typeface="Lucida Sans Unicode"/>
                <a:cs typeface="Lucida Sans Unicode"/>
              </a:rPr>
              <a:t>from</a:t>
            </a:r>
            <a:r>
              <a:rPr dirty="0" sz="2600" spc="-160">
                <a:latin typeface="Lucida Sans Unicode"/>
                <a:cs typeface="Lucida Sans Unicode"/>
              </a:rPr>
              <a:t> </a:t>
            </a:r>
            <a:r>
              <a:rPr dirty="0" sz="2600" spc="-165">
                <a:latin typeface="Lucida Sans Unicode"/>
                <a:cs typeface="Lucida Sans Unicode"/>
              </a:rPr>
              <a:t>transactional</a:t>
            </a:r>
            <a:r>
              <a:rPr dirty="0" sz="2600" spc="70">
                <a:latin typeface="Lucida Sans Unicode"/>
                <a:cs typeface="Lucida Sans Unicode"/>
              </a:rPr>
              <a:t> </a:t>
            </a:r>
            <a:r>
              <a:rPr dirty="0" sz="2600" spc="-215">
                <a:latin typeface="Lucida Sans Unicode"/>
                <a:cs typeface="Lucida Sans Unicode"/>
              </a:rPr>
              <a:t>data</a:t>
            </a:r>
            <a:r>
              <a:rPr dirty="0" sz="2600" spc="30">
                <a:latin typeface="Lucida Sans Unicode"/>
                <a:cs typeface="Lucida Sans Unicode"/>
              </a:rPr>
              <a:t> </a:t>
            </a:r>
            <a:r>
              <a:rPr dirty="0" sz="2600" spc="-204">
                <a:latin typeface="Lucida Sans Unicode"/>
                <a:cs typeface="Lucida Sans Unicode"/>
              </a:rPr>
              <a:t>to</a:t>
            </a:r>
            <a:r>
              <a:rPr dirty="0" sz="2600" spc="-95">
                <a:latin typeface="Lucida Sans Unicode"/>
                <a:cs typeface="Lucida Sans Unicode"/>
              </a:rPr>
              <a:t> </a:t>
            </a:r>
            <a:r>
              <a:rPr dirty="0" sz="2600" spc="-195">
                <a:latin typeface="Lucida Sans Unicode"/>
                <a:cs typeface="Lucida Sans Unicode"/>
              </a:rPr>
              <a:t>guide</a:t>
            </a:r>
            <a:r>
              <a:rPr dirty="0" sz="2600" spc="-140">
                <a:latin typeface="Lucida Sans Unicode"/>
                <a:cs typeface="Lucida Sans Unicode"/>
              </a:rPr>
              <a:t> </a:t>
            </a:r>
            <a:r>
              <a:rPr dirty="0" sz="2600" spc="-160">
                <a:latin typeface="Lucida Sans Unicode"/>
                <a:cs typeface="Lucida Sans Unicode"/>
              </a:rPr>
              <a:t>strategic</a:t>
            </a:r>
            <a:r>
              <a:rPr dirty="0" sz="2600" spc="50">
                <a:latin typeface="Lucida Sans Unicode"/>
                <a:cs typeface="Lucida Sans Unicode"/>
              </a:rPr>
              <a:t> </a:t>
            </a:r>
            <a:r>
              <a:rPr dirty="0" sz="2600" spc="-60">
                <a:latin typeface="Lucida Sans Unicode"/>
                <a:cs typeface="Lucida Sans Unicode"/>
              </a:rPr>
              <a:t>business </a:t>
            </a:r>
            <a:r>
              <a:rPr dirty="0" sz="2600" spc="-135">
                <a:latin typeface="Lucida Sans Unicode"/>
                <a:cs typeface="Lucida Sans Unicode"/>
              </a:rPr>
              <a:t>decision.s.</a:t>
            </a:r>
            <a:endParaRPr sz="2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088" y="6743253"/>
            <a:ext cx="10470885" cy="92143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088" y="3283671"/>
            <a:ext cx="5093038" cy="91306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33311" y="3283671"/>
            <a:ext cx="5084661" cy="91306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7348" y="2077425"/>
            <a:ext cx="376951" cy="5361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49691" y="2219828"/>
            <a:ext cx="812540" cy="56123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54375" y="2228205"/>
            <a:ext cx="368575" cy="39370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19778" y="2077425"/>
            <a:ext cx="1348650" cy="55286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43819" y="2228205"/>
            <a:ext cx="628253" cy="385328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565059" y="1264883"/>
            <a:ext cx="7539038" cy="946568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43636" y="1839949"/>
            <a:ext cx="505459" cy="94361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0" spc="-420">
                <a:solidFill>
                  <a:srgbClr val="111111"/>
                </a:solidFill>
                <a:latin typeface="Calibri"/>
                <a:cs typeface="Calibri"/>
              </a:rPr>
              <a:t>ct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868327" y="1839949"/>
            <a:ext cx="1214755" cy="9436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0" spc="195">
                <a:solidFill>
                  <a:srgbClr val="131313"/>
                </a:solidFill>
                <a:latin typeface="Calibri"/>
                <a:cs typeface="Calibri"/>
              </a:rPr>
              <a:t>iew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62258" y="4456276"/>
            <a:ext cx="3468370" cy="1580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dirty="0" sz="2900" spc="-45">
                <a:latin typeface="Lucida Sans Unicode"/>
                <a:cs typeface="Lucida Sans Unicode"/>
              </a:rPr>
              <a:t>Analyze</a:t>
            </a:r>
            <a:r>
              <a:rPr dirty="0" sz="2900" spc="-185">
                <a:latin typeface="Lucida Sans Unicode"/>
                <a:cs typeface="Lucida Sans Unicode"/>
              </a:rPr>
              <a:t> </a:t>
            </a:r>
            <a:r>
              <a:rPr dirty="0" sz="2900" spc="-10">
                <a:latin typeface="Lucida Sans Unicode"/>
                <a:cs typeface="Lucida Sans Unicode"/>
              </a:rPr>
              <a:t>Behavior</a:t>
            </a:r>
            <a:endParaRPr sz="2900">
              <a:latin typeface="Lucida Sans Unicode"/>
              <a:cs typeface="Lucida Sans Unicode"/>
            </a:endParaRPr>
          </a:p>
          <a:p>
            <a:pPr marL="27305" marR="5080" indent="-15240">
              <a:lnSpc>
                <a:spcPct val="127499"/>
              </a:lnSpc>
              <a:spcBef>
                <a:spcPts val="1110"/>
              </a:spcBef>
            </a:pPr>
            <a:r>
              <a:rPr dirty="0" sz="2500" spc="-120">
                <a:latin typeface="Lucida Sans Unicode"/>
                <a:cs typeface="Lucida Sans Unicode"/>
              </a:rPr>
              <a:t>3,900</a:t>
            </a:r>
            <a:r>
              <a:rPr dirty="0" sz="2500" spc="-80">
                <a:latin typeface="Lucida Sans Unicode"/>
                <a:cs typeface="Lucida Sans Unicode"/>
              </a:rPr>
              <a:t> </a:t>
            </a:r>
            <a:r>
              <a:rPr dirty="0" sz="2500" spc="-65">
                <a:latin typeface="Lucida Sans Unicode"/>
                <a:cs typeface="Lucida Sans Unicode"/>
              </a:rPr>
              <a:t>purchases</a:t>
            </a:r>
            <a:r>
              <a:rPr dirty="0" sz="2500" spc="-110">
                <a:latin typeface="Lucida Sans Unicode"/>
                <a:cs typeface="Lucida Sans Unicode"/>
              </a:rPr>
              <a:t> </a:t>
            </a:r>
            <a:r>
              <a:rPr dirty="0" sz="2500" spc="-50">
                <a:latin typeface="Lucida Sans Unicode"/>
                <a:cs typeface="Lucida Sans Unicode"/>
              </a:rPr>
              <a:t>across </a:t>
            </a:r>
            <a:r>
              <a:rPr dirty="0" sz="2500" spc="-20">
                <a:latin typeface="Lucida Sans Unicode"/>
                <a:cs typeface="Lucida Sans Unicode"/>
              </a:rPr>
              <a:t>categories.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748593" y="4456276"/>
            <a:ext cx="4278630" cy="1580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latin typeface="Lucida Sans Unicode"/>
                <a:cs typeface="Lucida Sans Unicode"/>
              </a:rPr>
              <a:t>Uncover</a:t>
            </a:r>
            <a:r>
              <a:rPr dirty="0" sz="2900" spc="-15">
                <a:latin typeface="Lucida Sans Unicode"/>
                <a:cs typeface="Lucida Sans Unicode"/>
              </a:rPr>
              <a:t> </a:t>
            </a:r>
            <a:r>
              <a:rPr dirty="0" sz="2900" spc="-10">
                <a:latin typeface="Lucida Sans Unicode"/>
                <a:cs typeface="Lucida Sans Unicode"/>
              </a:rPr>
              <a:t>Insights</a:t>
            </a:r>
            <a:endParaRPr sz="2900">
              <a:latin typeface="Lucida Sans Unicode"/>
              <a:cs typeface="Lucida Sans Unicode"/>
            </a:endParaRPr>
          </a:p>
          <a:p>
            <a:pPr marL="13970" marR="5080" indent="6350">
              <a:lnSpc>
                <a:spcPct val="127499"/>
              </a:lnSpc>
              <a:spcBef>
                <a:spcPts val="1110"/>
              </a:spcBef>
            </a:pPr>
            <a:r>
              <a:rPr dirty="0" sz="2500" spc="-105">
                <a:latin typeface="Lucida Sans Unicode"/>
                <a:cs typeface="Lucida Sans Unicode"/>
              </a:rPr>
              <a:t>Spending</a:t>
            </a:r>
            <a:r>
              <a:rPr dirty="0" sz="2500" spc="-75">
                <a:latin typeface="Lucida Sans Unicode"/>
                <a:cs typeface="Lucida Sans Unicode"/>
              </a:rPr>
              <a:t> </a:t>
            </a:r>
            <a:r>
              <a:rPr dirty="0" sz="2500" spc="-110">
                <a:latin typeface="Lucida Sans Unicode"/>
                <a:cs typeface="Lucida Sans Unicode"/>
              </a:rPr>
              <a:t>patterns,</a:t>
            </a:r>
            <a:r>
              <a:rPr dirty="0" sz="2500" spc="-30">
                <a:latin typeface="Lucida Sans Unicode"/>
                <a:cs typeface="Lucida Sans Unicode"/>
              </a:rPr>
              <a:t> </a:t>
            </a:r>
            <a:r>
              <a:rPr dirty="0" sz="2500" spc="-105">
                <a:latin typeface="Lucida Sans Unicode"/>
                <a:cs typeface="Lucida Sans Unicode"/>
              </a:rPr>
              <a:t>segments, </a:t>
            </a:r>
            <a:r>
              <a:rPr dirty="0" sz="2500" spc="-10">
                <a:latin typeface="Lucida Sans Unicode"/>
                <a:cs typeface="Lucida Sans Unicode"/>
              </a:rPr>
              <a:t>preferences.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75586" y="7922839"/>
            <a:ext cx="5519420" cy="1078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20">
                <a:latin typeface="Lucida Sans Unicode"/>
                <a:cs typeface="Lucida Sans Unicode"/>
              </a:rPr>
              <a:t>Guide</a:t>
            </a:r>
            <a:r>
              <a:rPr dirty="0" sz="2950" spc="-200">
                <a:latin typeface="Lucida Sans Unicode"/>
                <a:cs typeface="Lucida Sans Unicode"/>
              </a:rPr>
              <a:t> </a:t>
            </a:r>
            <a:r>
              <a:rPr dirty="0" sz="2950" spc="-10">
                <a:latin typeface="Lucida Sans Unicode"/>
                <a:cs typeface="Lucida Sans Unicode"/>
              </a:rPr>
              <a:t>Decisions</a:t>
            </a:r>
            <a:endParaRPr sz="2950">
              <a:latin typeface="Lucida Sans Unicode"/>
              <a:cs typeface="Lucida Sans Unicode"/>
            </a:endParaRPr>
          </a:p>
          <a:p>
            <a:pPr marL="15240">
              <a:lnSpc>
                <a:spcPct val="100000"/>
              </a:lnSpc>
              <a:spcBef>
                <a:spcPts val="1810"/>
              </a:spcBef>
            </a:pPr>
            <a:r>
              <a:rPr dirty="0" sz="2450" spc="-140">
                <a:latin typeface="Lucida Sans Unicode"/>
                <a:cs typeface="Lucida Sans Unicode"/>
              </a:rPr>
              <a:t>Optimize</a:t>
            </a:r>
            <a:r>
              <a:rPr dirty="0" sz="2450" spc="-55">
                <a:latin typeface="Lucida Sans Unicode"/>
                <a:cs typeface="Lucida Sans Unicode"/>
              </a:rPr>
              <a:t> </a:t>
            </a:r>
            <a:r>
              <a:rPr dirty="0" sz="2450" spc="-60">
                <a:latin typeface="Lucida Sans Unicode"/>
                <a:cs typeface="Lucida Sans Unicode"/>
              </a:rPr>
              <a:t>strategy</a:t>
            </a:r>
            <a:r>
              <a:rPr dirty="0" sz="2450" spc="-125">
                <a:latin typeface="Lucida Sans Unicode"/>
                <a:cs typeface="Lucida Sans Unicode"/>
              </a:rPr>
              <a:t> </a:t>
            </a:r>
            <a:r>
              <a:rPr dirty="0" sz="2450" spc="-114">
                <a:solidFill>
                  <a:srgbClr val="0E0E0E"/>
                </a:solidFill>
                <a:latin typeface="Lucida Sans Unicode"/>
                <a:cs typeface="Lucida Sans Unicode"/>
              </a:rPr>
              <a:t>for</a:t>
            </a:r>
            <a:r>
              <a:rPr dirty="0" sz="2450" spc="-145">
                <a:solidFill>
                  <a:srgbClr val="0E0E0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50">
                <a:latin typeface="Lucida Sans Unicode"/>
                <a:cs typeface="Lucida Sans Unicode"/>
              </a:rPr>
              <a:t>business</a:t>
            </a:r>
            <a:r>
              <a:rPr dirty="0" sz="2450" spc="-70">
                <a:latin typeface="Lucida Sans Unicode"/>
                <a:cs typeface="Lucida Sans Unicode"/>
              </a:rPr>
              <a:t> growth.</a:t>
            </a:r>
            <a:endParaRPr sz="2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376"/>
            <a:ext cx="7539038" cy="1072219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84939" y="3861664"/>
            <a:ext cx="586369" cy="39370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62791" y="3499934"/>
            <a:ext cx="6369050" cy="9169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54625" algn="l"/>
              </a:tabLst>
            </a:pPr>
            <a:r>
              <a:rPr dirty="0">
                <a:solidFill>
                  <a:srgbClr val="000000"/>
                </a:solidFill>
              </a:rPr>
              <a:t>Dataset</a:t>
            </a:r>
            <a:r>
              <a:rPr dirty="0" spc="-75">
                <a:solidFill>
                  <a:srgbClr val="000000"/>
                </a:solidFill>
              </a:rPr>
              <a:t> </a:t>
            </a:r>
            <a:r>
              <a:rPr dirty="0" spc="-25"/>
              <a:t>Sum</a:t>
            </a:r>
            <a:r>
              <a:rPr dirty="0"/>
              <a:t>	</a:t>
            </a:r>
            <a:r>
              <a:rPr dirty="0" spc="-25"/>
              <a:t>ary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573078" y="5203200"/>
            <a:ext cx="2299335" cy="4610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50">
                <a:latin typeface="Lucida Sans Unicode"/>
                <a:cs typeface="Lucida Sans Unicode"/>
              </a:rPr>
              <a:t>Key</a:t>
            </a:r>
            <a:r>
              <a:rPr dirty="0" sz="2850" spc="-60">
                <a:latin typeface="Lucida Sans Unicode"/>
                <a:cs typeface="Lucida Sans Unicode"/>
              </a:rPr>
              <a:t> </a:t>
            </a:r>
            <a:r>
              <a:rPr dirty="0" sz="2850" spc="-10">
                <a:latin typeface="Lucida Sans Unicode"/>
                <a:cs typeface="Lucida Sans Unicode"/>
              </a:rPr>
              <a:t>Features</a:t>
            </a:r>
            <a:endParaRPr sz="285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575589" y="5815258"/>
            <a:ext cx="3985895" cy="1784985"/>
          </a:xfrm>
          <a:prstGeom prst="rect">
            <a:avLst/>
          </a:prstGeom>
        </p:spPr>
        <p:txBody>
          <a:bodyPr wrap="square" lIns="0" tIns="210185" rIns="0" bIns="0" rtlCol="0" vert="horz">
            <a:spAutoFit/>
          </a:bodyPr>
          <a:lstStyle/>
          <a:p>
            <a:pPr marL="496570" indent="-483870">
              <a:lnSpc>
                <a:spcPct val="100000"/>
              </a:lnSpc>
              <a:spcBef>
                <a:spcPts val="1655"/>
              </a:spcBef>
              <a:buClr>
                <a:srgbClr val="131313"/>
              </a:buClr>
              <a:buChar char="•"/>
              <a:tabLst>
                <a:tab pos="496570" algn="l"/>
              </a:tabLst>
            </a:pPr>
            <a:r>
              <a:rPr dirty="0" sz="2550" spc="-155">
                <a:latin typeface="Lucida Sans Unicode"/>
                <a:cs typeface="Lucida Sans Unicode"/>
              </a:rPr>
              <a:t>Customer</a:t>
            </a:r>
            <a:r>
              <a:rPr dirty="0" sz="2550" spc="-15">
                <a:latin typeface="Lucida Sans Unicode"/>
                <a:cs typeface="Lucida Sans Unicode"/>
              </a:rPr>
              <a:t> </a:t>
            </a:r>
            <a:r>
              <a:rPr dirty="0" sz="2550" spc="-145">
                <a:latin typeface="Lucida Sans Unicode"/>
                <a:cs typeface="Lucida Sans Unicode"/>
              </a:rPr>
              <a:t>demographics</a:t>
            </a:r>
            <a:endParaRPr sz="2550">
              <a:latin typeface="Lucida Sans Unicode"/>
              <a:cs typeface="Lucida Sans Unicode"/>
            </a:endParaRPr>
          </a:p>
          <a:p>
            <a:pPr marL="490855" indent="-478155">
              <a:lnSpc>
                <a:spcPct val="100000"/>
              </a:lnSpc>
              <a:spcBef>
                <a:spcPts val="1560"/>
              </a:spcBef>
              <a:buClr>
                <a:srgbClr val="0F0F0F"/>
              </a:buClr>
              <a:buChar char="•"/>
              <a:tabLst>
                <a:tab pos="490855" algn="l"/>
              </a:tabLst>
            </a:pPr>
            <a:r>
              <a:rPr dirty="0" sz="2550" spc="-85">
                <a:latin typeface="Lucida Sans Unicode"/>
                <a:cs typeface="Lucida Sans Unicode"/>
              </a:rPr>
              <a:t>Purchase</a:t>
            </a:r>
            <a:r>
              <a:rPr dirty="0" sz="2550" spc="-80">
                <a:latin typeface="Lucida Sans Unicode"/>
                <a:cs typeface="Lucida Sans Unicode"/>
              </a:rPr>
              <a:t> </a:t>
            </a:r>
            <a:r>
              <a:rPr dirty="0" sz="2550" spc="-10">
                <a:latin typeface="Lucida Sans Unicode"/>
                <a:cs typeface="Lucida Sans Unicode"/>
              </a:rPr>
              <a:t>details</a:t>
            </a:r>
            <a:endParaRPr sz="2550">
              <a:latin typeface="Lucida Sans Unicode"/>
              <a:cs typeface="Lucida Sans Unicode"/>
            </a:endParaRPr>
          </a:p>
          <a:p>
            <a:pPr marL="505459" indent="-492759">
              <a:lnSpc>
                <a:spcPct val="100000"/>
              </a:lnSpc>
              <a:spcBef>
                <a:spcPts val="1555"/>
              </a:spcBef>
              <a:buClr>
                <a:srgbClr val="0F0F0F"/>
              </a:buClr>
              <a:buChar char="•"/>
              <a:tabLst>
                <a:tab pos="505459" algn="l"/>
              </a:tabLst>
            </a:pPr>
            <a:r>
              <a:rPr dirty="0" sz="2550" spc="-155">
                <a:latin typeface="Lucida Sans Unicode"/>
                <a:cs typeface="Lucida Sans Unicode"/>
              </a:rPr>
              <a:t>Shopping</a:t>
            </a:r>
            <a:r>
              <a:rPr dirty="0" sz="2550" spc="-15">
                <a:latin typeface="Lucida Sans Unicode"/>
                <a:cs typeface="Lucida Sans Unicode"/>
              </a:rPr>
              <a:t> </a:t>
            </a:r>
            <a:r>
              <a:rPr dirty="0" sz="2550" spc="-25">
                <a:latin typeface="Lucida Sans Unicode"/>
                <a:cs typeface="Lucida Sans Unicode"/>
              </a:rPr>
              <a:t>behavior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184954" y="5197616"/>
            <a:ext cx="2056130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latin typeface="Lucida Sans Unicode"/>
                <a:cs typeface="Lucida Sans Unicode"/>
              </a:rPr>
              <a:t>Data</a:t>
            </a:r>
            <a:r>
              <a:rPr dirty="0" sz="2900" spc="-75">
                <a:latin typeface="Lucida Sans Unicode"/>
                <a:cs typeface="Lucida Sans Unicode"/>
              </a:rPr>
              <a:t> </a:t>
            </a:r>
            <a:r>
              <a:rPr dirty="0" sz="2900" spc="-10">
                <a:latin typeface="Lucida Sans Unicode"/>
                <a:cs typeface="Lucida Sans Unicode"/>
              </a:rPr>
              <a:t>Points</a:t>
            </a:r>
            <a:endParaRPr sz="29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189242" y="5809953"/>
            <a:ext cx="4402455" cy="1784985"/>
          </a:xfrm>
          <a:prstGeom prst="rect">
            <a:avLst/>
          </a:prstGeom>
        </p:spPr>
        <p:txBody>
          <a:bodyPr wrap="square" lIns="0" tIns="217804" rIns="0" bIns="0" rtlCol="0" vert="horz">
            <a:spAutoFit/>
          </a:bodyPr>
          <a:lstStyle/>
          <a:p>
            <a:pPr marL="490220" indent="-477520">
              <a:lnSpc>
                <a:spcPct val="100000"/>
              </a:lnSpc>
              <a:spcBef>
                <a:spcPts val="1714"/>
              </a:spcBef>
              <a:buClr>
                <a:srgbClr val="0C0C0C"/>
              </a:buClr>
              <a:buChar char="•"/>
              <a:tabLst>
                <a:tab pos="490220" algn="l"/>
              </a:tabLst>
            </a:pPr>
            <a:r>
              <a:rPr dirty="0" sz="2500" spc="-80">
                <a:latin typeface="Lucida Sans Unicode"/>
                <a:cs typeface="Lucida Sans Unicode"/>
              </a:rPr>
              <a:t>Rows:</a:t>
            </a:r>
            <a:r>
              <a:rPr dirty="0" sz="2500" spc="-170">
                <a:latin typeface="Lucida Sans Unicode"/>
                <a:cs typeface="Lucida Sans Unicode"/>
              </a:rPr>
              <a:t> </a:t>
            </a:r>
            <a:r>
              <a:rPr dirty="0" sz="2500" spc="-10">
                <a:latin typeface="Lucida Sans Unicode"/>
                <a:cs typeface="Lucida Sans Unicode"/>
              </a:rPr>
              <a:t>3,900</a:t>
            </a:r>
            <a:endParaRPr sz="2500">
              <a:latin typeface="Lucida Sans Unicode"/>
              <a:cs typeface="Lucida Sans Unicode"/>
            </a:endParaRPr>
          </a:p>
          <a:p>
            <a:pPr marL="503555" indent="-490855">
              <a:lnSpc>
                <a:spcPct val="100000"/>
              </a:lnSpc>
              <a:spcBef>
                <a:spcPts val="1614"/>
              </a:spcBef>
              <a:buChar char="•"/>
              <a:tabLst>
                <a:tab pos="503555" algn="l"/>
              </a:tabLst>
            </a:pPr>
            <a:r>
              <a:rPr dirty="0" sz="2500" spc="-155">
                <a:latin typeface="Lucida Sans Unicode"/>
                <a:cs typeface="Lucida Sans Unicode"/>
              </a:rPr>
              <a:t>Columns:</a:t>
            </a:r>
            <a:r>
              <a:rPr dirty="0" sz="2500" spc="-195">
                <a:latin typeface="Lucida Sans Unicode"/>
                <a:cs typeface="Lucida Sans Unicode"/>
              </a:rPr>
              <a:t> </a:t>
            </a:r>
            <a:r>
              <a:rPr dirty="0" sz="2500" spc="-300">
                <a:latin typeface="Lucida Sans Unicode"/>
                <a:cs typeface="Lucida Sans Unicode"/>
              </a:rPr>
              <a:t>18</a:t>
            </a:r>
            <a:endParaRPr sz="2500">
              <a:latin typeface="Lucida Sans Unicode"/>
              <a:cs typeface="Lucida Sans Unicode"/>
            </a:endParaRPr>
          </a:p>
          <a:p>
            <a:pPr marL="490220" indent="-477520">
              <a:lnSpc>
                <a:spcPct val="100000"/>
              </a:lnSpc>
              <a:spcBef>
                <a:spcPts val="1620"/>
              </a:spcBef>
              <a:buClr>
                <a:srgbClr val="111111"/>
              </a:buClr>
              <a:buChar char="•"/>
              <a:tabLst>
                <a:tab pos="490220" algn="l"/>
              </a:tabLst>
            </a:pPr>
            <a:r>
              <a:rPr dirty="0" sz="2500" spc="-110">
                <a:latin typeface="Lucida Sans Unicode"/>
                <a:cs typeface="Lucida Sans Unicode"/>
              </a:rPr>
              <a:t>Missing:</a:t>
            </a:r>
            <a:r>
              <a:rPr dirty="0" sz="2500" spc="-114">
                <a:latin typeface="Lucida Sans Unicode"/>
                <a:cs typeface="Lucida Sans Unicode"/>
              </a:rPr>
              <a:t> </a:t>
            </a:r>
            <a:r>
              <a:rPr dirty="0" sz="2500" spc="-45">
                <a:solidFill>
                  <a:srgbClr val="0C0C0C"/>
                </a:solidFill>
                <a:latin typeface="Lucida Sans Unicode"/>
                <a:cs typeface="Lucida Sans Unicode"/>
              </a:rPr>
              <a:t>37</a:t>
            </a:r>
            <a:r>
              <a:rPr dirty="0" sz="2500" spc="-155">
                <a:solidFill>
                  <a:srgbClr val="0C0C0C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60">
                <a:solidFill>
                  <a:srgbClr val="0A0A0A"/>
                </a:solidFill>
                <a:latin typeface="Lucida Sans Unicode"/>
                <a:cs typeface="Lucida Sans Unicode"/>
              </a:rPr>
              <a:t>(Review</a:t>
            </a:r>
            <a:r>
              <a:rPr dirty="0" sz="2500" spc="-80">
                <a:solidFill>
                  <a:srgbClr val="0A0A0A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10">
                <a:latin typeface="Lucida Sans Unicode"/>
                <a:cs typeface="Lucida Sans Unicode"/>
              </a:rPr>
              <a:t>Rating)</a:t>
            </a:r>
            <a:endParaRPr sz="2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5235" y="4716089"/>
            <a:ext cx="3032368" cy="72039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040" y="3467958"/>
            <a:ext cx="276431" cy="30156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7992" y="3032369"/>
            <a:ext cx="192664" cy="7371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10686" y="2848082"/>
            <a:ext cx="670136" cy="70364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50956" y="3325554"/>
            <a:ext cx="343445" cy="5863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86925" y="2948602"/>
            <a:ext cx="628253" cy="45234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252847" y="2839704"/>
            <a:ext cx="988451" cy="92981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400453" y="3367437"/>
            <a:ext cx="703643" cy="40208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62752" y="0"/>
            <a:ext cx="3057498" cy="90468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301077" y="1851253"/>
            <a:ext cx="636629" cy="93819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619393" y="1298390"/>
            <a:ext cx="175910" cy="494226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080103" y="1080595"/>
            <a:ext cx="184287" cy="39370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8604665" y="1139232"/>
            <a:ext cx="795787" cy="1273260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1061496" y="9324955"/>
            <a:ext cx="8840470" cy="0"/>
          </a:xfrm>
          <a:custGeom>
            <a:avLst/>
            <a:gdLst/>
            <a:ahLst/>
            <a:cxnLst/>
            <a:rect l="l" t="t" r="r" b="b"/>
            <a:pathLst>
              <a:path w="8840470" h="0">
                <a:moveTo>
                  <a:pt x="0" y="0"/>
                </a:moveTo>
                <a:lnTo>
                  <a:pt x="8840443" y="0"/>
                </a:lnTo>
              </a:path>
            </a:pathLst>
          </a:custGeom>
          <a:ln w="18763">
            <a:solidFill>
              <a:srgbClr val="2828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0210202" y="9324955"/>
            <a:ext cx="8840470" cy="0"/>
          </a:xfrm>
          <a:custGeom>
            <a:avLst/>
            <a:gdLst/>
            <a:ahLst/>
            <a:cxnLst/>
            <a:rect l="l" t="t" r="r" b="b"/>
            <a:pathLst>
              <a:path w="8840469" h="0">
                <a:moveTo>
                  <a:pt x="0" y="0"/>
                </a:moveTo>
                <a:lnTo>
                  <a:pt x="8840443" y="0"/>
                </a:lnTo>
              </a:path>
            </a:pathLst>
          </a:custGeom>
          <a:ln w="18763">
            <a:solidFill>
              <a:srgbClr val="2828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061496" y="6494297"/>
            <a:ext cx="8840470" cy="0"/>
          </a:xfrm>
          <a:custGeom>
            <a:avLst/>
            <a:gdLst/>
            <a:ahLst/>
            <a:cxnLst/>
            <a:rect l="l" t="t" r="r" b="b"/>
            <a:pathLst>
              <a:path w="8840470" h="0">
                <a:moveTo>
                  <a:pt x="0" y="0"/>
                </a:moveTo>
                <a:lnTo>
                  <a:pt x="8840443" y="0"/>
                </a:lnTo>
              </a:path>
            </a:pathLst>
          </a:custGeom>
          <a:ln w="18763">
            <a:solidFill>
              <a:srgbClr val="28232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0210202" y="6494297"/>
            <a:ext cx="8840470" cy="0"/>
          </a:xfrm>
          <a:custGeom>
            <a:avLst/>
            <a:gdLst/>
            <a:ahLst/>
            <a:cxnLst/>
            <a:rect l="l" t="t" r="r" b="b"/>
            <a:pathLst>
              <a:path w="8840469" h="0">
                <a:moveTo>
                  <a:pt x="0" y="0"/>
                </a:moveTo>
                <a:lnTo>
                  <a:pt x="8840443" y="0"/>
                </a:lnTo>
              </a:path>
            </a:pathLst>
          </a:custGeom>
          <a:ln w="18763">
            <a:solidFill>
              <a:srgbClr val="28232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11448610" y="3611367"/>
            <a:ext cx="330200" cy="19050"/>
            <a:chOff x="11448610" y="3611367"/>
            <a:chExt cx="330200" cy="19050"/>
          </a:xfrm>
        </p:grpSpPr>
        <p:sp>
          <p:nvSpPr>
            <p:cNvPr id="20" name="object 20" descr=""/>
            <p:cNvSpPr/>
            <p:nvPr/>
          </p:nvSpPr>
          <p:spPr>
            <a:xfrm>
              <a:off x="11464702" y="3628791"/>
              <a:ext cx="313690" cy="0"/>
            </a:xfrm>
            <a:custGeom>
              <a:avLst/>
              <a:gdLst/>
              <a:ahLst/>
              <a:cxnLst/>
              <a:rect l="l" t="t" r="r" b="b"/>
              <a:pathLst>
                <a:path w="313690" h="0">
                  <a:moveTo>
                    <a:pt x="0" y="0"/>
                  </a:moveTo>
                  <a:lnTo>
                    <a:pt x="313623" y="0"/>
                  </a:lnTo>
                </a:path>
              </a:pathLst>
            </a:custGeom>
            <a:ln w="3175">
              <a:solidFill>
                <a:srgbClr val="1F4B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1448610" y="3620750"/>
              <a:ext cx="330200" cy="0"/>
            </a:xfrm>
            <a:custGeom>
              <a:avLst/>
              <a:gdLst/>
              <a:ahLst/>
              <a:cxnLst/>
              <a:rect l="l" t="t" r="r" b="b"/>
              <a:pathLst>
                <a:path w="330200" h="0">
                  <a:moveTo>
                    <a:pt x="0" y="0"/>
                  </a:moveTo>
                  <a:lnTo>
                    <a:pt x="329707" y="0"/>
                  </a:lnTo>
                </a:path>
              </a:pathLst>
            </a:custGeom>
            <a:ln w="3175">
              <a:solidFill>
                <a:srgbClr val="1F4B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448610" y="3612707"/>
              <a:ext cx="330200" cy="0"/>
            </a:xfrm>
            <a:custGeom>
              <a:avLst/>
              <a:gdLst/>
              <a:ahLst/>
              <a:cxnLst/>
              <a:rect l="l" t="t" r="r" b="b"/>
              <a:pathLst>
                <a:path w="330200" h="0">
                  <a:moveTo>
                    <a:pt x="0" y="0"/>
                  </a:moveTo>
                  <a:lnTo>
                    <a:pt x="329707" y="0"/>
                  </a:lnTo>
                </a:path>
              </a:pathLst>
            </a:custGeom>
            <a:ln w="3175">
              <a:solidFill>
                <a:srgbClr val="1F4B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3" name="object 23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525455" y="1658588"/>
            <a:ext cx="4305627" cy="134027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768380" y="2136060"/>
            <a:ext cx="2110929" cy="142404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793510" y="3308801"/>
            <a:ext cx="25130" cy="117273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919161" y="2370609"/>
            <a:ext cx="3937052" cy="519356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8495771" y="2580027"/>
            <a:ext cx="242924" cy="201041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177701" y="6064739"/>
            <a:ext cx="343445" cy="234547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7034717" y="224919"/>
            <a:ext cx="499109" cy="494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 marR="5080" indent="-38735">
              <a:lnSpc>
                <a:spcPct val="123100"/>
              </a:lnSpc>
              <a:spcBef>
                <a:spcPts val="95"/>
              </a:spcBef>
              <a:tabLst>
                <a:tab pos="318135" algn="l"/>
              </a:tabLst>
            </a:pPr>
            <a:r>
              <a:rPr dirty="0" sz="1250" spc="-25">
                <a:solidFill>
                  <a:srgbClr val="343434"/>
                </a:solidFill>
                <a:latin typeface="Times New Roman"/>
                <a:cs typeface="Times New Roman"/>
              </a:rPr>
              <a:t>at</a:t>
            </a:r>
            <a:r>
              <a:rPr dirty="0" sz="1250">
                <a:solidFill>
                  <a:srgbClr val="343434"/>
                </a:solidFill>
                <a:latin typeface="Times New Roman"/>
                <a:cs typeface="Times New Roman"/>
              </a:rPr>
              <a:t>	t</a:t>
            </a:r>
            <a:r>
              <a:rPr dirty="0" sz="1250" spc="-45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dirty="0" sz="1250" spc="-50">
                <a:solidFill>
                  <a:srgbClr val="595959"/>
                </a:solidFill>
                <a:latin typeface="Times New Roman"/>
                <a:cs typeface="Times New Roman"/>
              </a:rPr>
              <a:t>o </a:t>
            </a:r>
            <a:r>
              <a:rPr dirty="0" sz="1250" spc="-100">
                <a:solidFill>
                  <a:srgbClr val="484848"/>
                </a:solidFill>
                <a:latin typeface="Times New Roman"/>
                <a:cs typeface="Times New Roman"/>
              </a:rPr>
              <a:t>h</a:t>
            </a:r>
            <a:r>
              <a:rPr dirty="0" sz="1250" spc="-9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dirty="0" sz="1250" spc="-114">
                <a:solidFill>
                  <a:srgbClr val="365750"/>
                </a:solidFill>
                <a:latin typeface="Times New Roman"/>
                <a:cs typeface="Times New Roman"/>
              </a:rPr>
              <a:t>o</a:t>
            </a:r>
            <a:r>
              <a:rPr dirty="0" sz="1250" spc="-80">
                <a:solidFill>
                  <a:srgbClr val="365750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333333"/>
                </a:solidFill>
                <a:latin typeface="Times New Roman"/>
                <a:cs typeface="Times New Roman"/>
              </a:rPr>
              <a:t>t</a:t>
            </a:r>
            <a:r>
              <a:rPr dirty="0" sz="1250" spc="3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250" spc="-100">
                <a:solidFill>
                  <a:srgbClr val="2F2F2F"/>
                </a:solidFill>
                <a:latin typeface="Times New Roman"/>
                <a:cs typeface="Times New Roman"/>
              </a:rPr>
              <a:t>e</a:t>
            </a:r>
            <a:r>
              <a:rPr dirty="0" sz="1250" spc="-7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dirty="0" sz="1250" spc="-125">
                <a:solidFill>
                  <a:srgbClr val="484848"/>
                </a:solidFill>
                <a:latin typeface="Times New Roman"/>
                <a:cs typeface="Times New Roman"/>
              </a:rPr>
              <a:t>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591214" y="224919"/>
            <a:ext cx="528955" cy="49466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250">
                <a:solidFill>
                  <a:srgbClr val="5D5D5D"/>
                </a:solidFill>
                <a:latin typeface="Times New Roman"/>
                <a:cs typeface="Times New Roman"/>
              </a:rPr>
              <a:t>x</a:t>
            </a:r>
            <a:r>
              <a:rPr dirty="0" sz="1250" spc="19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250" spc="-310">
                <a:solidFill>
                  <a:srgbClr val="3B3B3B"/>
                </a:solidFill>
                <a:latin typeface="Times New Roman"/>
                <a:cs typeface="Times New Roman"/>
              </a:rPr>
              <a:t>1</a:t>
            </a:r>
            <a:r>
              <a:rPr dirty="0" sz="1250" spc="345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250" spc="60">
                <a:solidFill>
                  <a:srgbClr val="4B4B4B"/>
                </a:solidFill>
                <a:latin typeface="Times New Roman"/>
                <a:cs typeface="Times New Roman"/>
              </a:rPr>
              <a:t>c</a:t>
            </a:r>
            <a:r>
              <a:rPr dirty="0" sz="1250" spc="-105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3B3B3B"/>
                </a:solidFill>
                <a:latin typeface="Times New Roman"/>
                <a:cs typeface="Times New Roman"/>
              </a:rPr>
              <a:t>t</a:t>
            </a:r>
            <a:r>
              <a:rPr dirty="0" sz="1250" spc="-10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250" spc="-50">
                <a:solidFill>
                  <a:srgbClr val="3F3F3F"/>
                </a:solidFill>
                <a:latin typeface="Times New Roman"/>
                <a:cs typeface="Times New Roman"/>
              </a:rPr>
              <a:t>r</a:t>
            </a:r>
            <a:endParaRPr sz="1250">
              <a:latin typeface="Times New Roman"/>
              <a:cs typeface="Times New Roman"/>
            </a:endParaRPr>
          </a:p>
          <a:p>
            <a:pPr marL="42545">
              <a:lnSpc>
                <a:spcPct val="100000"/>
              </a:lnSpc>
              <a:spcBef>
                <a:spcPts val="345"/>
              </a:spcBef>
              <a:tabLst>
                <a:tab pos="318135" algn="l"/>
              </a:tabLst>
            </a:pPr>
            <a:r>
              <a:rPr dirty="0" sz="1250">
                <a:solidFill>
                  <a:srgbClr val="B57C6B"/>
                </a:solidFill>
                <a:latin typeface="Times New Roman"/>
                <a:cs typeface="Times New Roman"/>
              </a:rPr>
              <a:t>:</a:t>
            </a:r>
            <a:r>
              <a:rPr dirty="0" sz="1250" spc="225">
                <a:solidFill>
                  <a:srgbClr val="B57C6B"/>
                </a:solidFill>
                <a:latin typeface="Times New Roman"/>
                <a:cs typeface="Times New Roman"/>
              </a:rPr>
              <a:t> </a:t>
            </a:r>
            <a:r>
              <a:rPr dirty="0" sz="1250" spc="-50">
                <a:solidFill>
                  <a:srgbClr val="C37E5D"/>
                </a:solidFill>
                <a:latin typeface="Times New Roman"/>
                <a:cs typeface="Times New Roman"/>
              </a:rPr>
              <a:t>,</a:t>
            </a:r>
            <a:r>
              <a:rPr dirty="0" sz="1250">
                <a:solidFill>
                  <a:srgbClr val="C37E5D"/>
                </a:solidFill>
                <a:latin typeface="Times New Roman"/>
                <a:cs typeface="Times New Roman"/>
              </a:rPr>
              <a:t>	</a:t>
            </a:r>
            <a:r>
              <a:rPr dirty="0" sz="1250">
                <a:solidFill>
                  <a:srgbClr val="AA7967"/>
                </a:solidFill>
                <a:latin typeface="Times New Roman"/>
                <a:cs typeface="Times New Roman"/>
              </a:rPr>
              <a:t>' </a:t>
            </a:r>
            <a:r>
              <a:rPr dirty="0" sz="1250" spc="-50">
                <a:solidFill>
                  <a:srgbClr val="AF6948"/>
                </a:solidFill>
                <a:latin typeface="Times New Roman"/>
                <a:cs typeface="Times New Roman"/>
              </a:rPr>
              <a:t>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8199314" y="224919"/>
            <a:ext cx="1325245" cy="49466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440"/>
              </a:spcBef>
            </a:pPr>
            <a:r>
              <a:rPr dirty="0" sz="1250">
                <a:solidFill>
                  <a:srgbClr val="3A3A3A"/>
                </a:solidFill>
                <a:latin typeface="Times New Roman"/>
                <a:cs typeface="Times New Roman"/>
              </a:rPr>
              <a:t>c</a:t>
            </a:r>
            <a:r>
              <a:rPr dirty="0" sz="1250">
                <a:solidFill>
                  <a:srgbClr val="343434"/>
                </a:solidFill>
                <a:latin typeface="Times New Roman"/>
                <a:cs typeface="Times New Roman"/>
              </a:rPr>
              <a:t>v</a:t>
            </a:r>
            <a:r>
              <a:rPr dirty="0" sz="1250" spc="-8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383838"/>
                </a:solidFill>
                <a:latin typeface="Times New Roman"/>
                <a:cs typeface="Times New Roman"/>
              </a:rPr>
              <a:t>t</a:t>
            </a:r>
            <a:r>
              <a:rPr dirty="0" sz="1250" spc="120">
                <a:solidFill>
                  <a:srgbClr val="383838"/>
                </a:solidFill>
                <a:latin typeface="Times New Roman"/>
                <a:cs typeface="Times New Roman"/>
              </a:rPr>
              <a:t>  </a:t>
            </a:r>
            <a:r>
              <a:rPr dirty="0" sz="1250" spc="-30">
                <a:solidFill>
                  <a:srgbClr val="676767"/>
                </a:solidFill>
                <a:latin typeface="Times New Roman"/>
                <a:cs typeface="Times New Roman"/>
              </a:rPr>
              <a:t>e</a:t>
            </a:r>
            <a:r>
              <a:rPr dirty="0" sz="1250" spc="-65">
                <a:solidFill>
                  <a:srgbClr val="676767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4D4D4D"/>
                </a:solidFill>
                <a:latin typeface="Times New Roman"/>
                <a:cs typeface="Times New Roman"/>
              </a:rPr>
              <a:t>s</a:t>
            </a:r>
            <a:r>
              <a:rPr dirty="0" sz="1250" spc="-65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343434"/>
                </a:solidFill>
                <a:latin typeface="Times New Roman"/>
                <a:cs typeface="Times New Roman"/>
              </a:rPr>
              <a:t>I</a:t>
            </a:r>
            <a:r>
              <a:rPr dirty="0" sz="1250" spc="-85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383838"/>
                </a:solidFill>
                <a:latin typeface="Times New Roman"/>
                <a:cs typeface="Times New Roman"/>
              </a:rPr>
              <a:t>i</a:t>
            </a:r>
            <a:r>
              <a:rPr dirty="0" sz="1250" spc="120">
                <a:solidFill>
                  <a:srgbClr val="383838"/>
                </a:solidFill>
                <a:latin typeface="Times New Roman"/>
                <a:cs typeface="Times New Roman"/>
              </a:rPr>
              <a:t>  </a:t>
            </a:r>
            <a:r>
              <a:rPr dirty="0" sz="1250" spc="-105">
                <a:solidFill>
                  <a:srgbClr val="4F4F4F"/>
                </a:solidFill>
                <a:latin typeface="Times New Roman"/>
                <a:cs typeface="Times New Roman"/>
              </a:rPr>
              <a:t>c</a:t>
            </a:r>
            <a:r>
              <a:rPr dirty="0" sz="1250" spc="-11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250" spc="-114">
                <a:solidFill>
                  <a:srgbClr val="575757"/>
                </a:solidFill>
                <a:latin typeface="Times New Roman"/>
                <a:cs typeface="Times New Roman"/>
              </a:rPr>
              <a:t>o</a:t>
            </a:r>
            <a:r>
              <a:rPr dirty="0" sz="1250" spc="-8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4F4F4F"/>
                </a:solidFill>
                <a:latin typeface="Times New Roman"/>
                <a:cs typeface="Times New Roman"/>
              </a:rPr>
              <a:t>t4</a:t>
            </a:r>
            <a:r>
              <a:rPr dirty="0" sz="1250" spc="125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250" spc="-50">
                <a:solidFill>
                  <a:srgbClr val="2D2D2D"/>
                </a:solidFill>
                <a:latin typeface="Times New Roman"/>
                <a:cs typeface="Times New Roman"/>
              </a:rPr>
              <a:t>•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250">
                <a:solidFill>
                  <a:srgbClr val="1A3446"/>
                </a:solidFill>
                <a:latin typeface="Times New Roman"/>
                <a:cs typeface="Times New Roman"/>
              </a:rPr>
              <a:t>c</a:t>
            </a:r>
            <a:r>
              <a:rPr dirty="0" sz="1250" spc="405">
                <a:solidFill>
                  <a:srgbClr val="1A3446"/>
                </a:solidFill>
                <a:latin typeface="Times New Roman"/>
                <a:cs typeface="Times New Roman"/>
              </a:rPr>
              <a:t> </a:t>
            </a:r>
            <a:r>
              <a:rPr dirty="0" sz="1250" spc="-70">
                <a:solidFill>
                  <a:srgbClr val="4F4F4F"/>
                </a:solidFill>
                <a:latin typeface="Times New Roman"/>
                <a:cs typeface="Times New Roman"/>
              </a:rPr>
              <a:t>i</a:t>
            </a:r>
            <a:r>
              <a:rPr dirty="0" sz="1250" spc="-15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3B3B3B"/>
                </a:solidFill>
                <a:latin typeface="Times New Roman"/>
                <a:cs typeface="Times New Roman"/>
              </a:rPr>
              <a:t>e</a:t>
            </a:r>
            <a:r>
              <a:rPr dirty="0" sz="1250">
                <a:solidFill>
                  <a:srgbClr val="525252"/>
                </a:solidFill>
                <a:latin typeface="Times New Roman"/>
                <a:cs typeface="Times New Roman"/>
              </a:rPr>
              <a:t>••</a:t>
            </a:r>
            <a:r>
              <a:rPr dirty="0" sz="1250" spc="4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232323"/>
                </a:solidFill>
                <a:latin typeface="Times New Roman"/>
                <a:cs typeface="Times New Roman"/>
              </a:rPr>
              <a:t>cz</a:t>
            </a:r>
            <a:r>
              <a:rPr dirty="0" sz="1250" spc="-8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363636"/>
                </a:solidFill>
                <a:latin typeface="Times New Roman"/>
                <a:cs typeface="Times New Roman"/>
              </a:rPr>
              <a:t>n</a:t>
            </a:r>
            <a:r>
              <a:rPr dirty="0" sz="1250" spc="445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dirty="0" sz="1250" spc="-30">
                <a:solidFill>
                  <a:srgbClr val="6E6E6E"/>
                </a:solidFill>
                <a:latin typeface="Times New Roman"/>
                <a:cs typeface="Times New Roman"/>
              </a:rPr>
              <a:t>c</a:t>
            </a:r>
            <a:r>
              <a:rPr dirty="0" sz="1250" spc="-114">
                <a:solidFill>
                  <a:srgbClr val="6E6E6E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343434"/>
                </a:solidFill>
                <a:latin typeface="Times New Roman"/>
                <a:cs typeface="Times New Roman"/>
              </a:rPr>
              <a:t>i</a:t>
            </a:r>
            <a:r>
              <a:rPr dirty="0" sz="1250" spc="4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dirty="0" sz="1250" spc="-105">
                <a:solidFill>
                  <a:srgbClr val="6B7280"/>
                </a:solidFill>
                <a:latin typeface="Times New Roman"/>
                <a:cs typeface="Times New Roman"/>
              </a:rPr>
              <a:t>c</a:t>
            </a:r>
            <a:r>
              <a:rPr dirty="0" sz="1250" spc="-45">
                <a:solidFill>
                  <a:srgbClr val="6B7280"/>
                </a:solidFill>
                <a:latin typeface="Times New Roman"/>
                <a:cs typeface="Times New Roman"/>
              </a:rPr>
              <a:t> </a:t>
            </a:r>
            <a:r>
              <a:rPr dirty="0" sz="1250" spc="-105">
                <a:solidFill>
                  <a:srgbClr val="525252"/>
                </a:solidFill>
                <a:latin typeface="Times New Roman"/>
                <a:cs typeface="Times New Roman"/>
              </a:rPr>
              <a:t>e</a:t>
            </a:r>
            <a:r>
              <a:rPr dirty="0" sz="1250" spc="-1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250" spc="5">
                <a:solidFill>
                  <a:srgbClr val="4F4F4F"/>
                </a:solidFill>
                <a:latin typeface="Times New Roman"/>
                <a:cs typeface="Times New Roman"/>
              </a:rPr>
              <a:t>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9532714" y="224919"/>
            <a:ext cx="533400" cy="49466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250" spc="-120">
                <a:solidFill>
                  <a:srgbClr val="565656"/>
                </a:solidFill>
                <a:latin typeface="Times New Roman"/>
                <a:cs typeface="Times New Roman"/>
              </a:rPr>
              <a:t>I</a:t>
            </a:r>
            <a:r>
              <a:rPr dirty="0" sz="1250" spc="-100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250" spc="-25">
                <a:solidFill>
                  <a:srgbClr val="3D3D3D"/>
                </a:solidFill>
                <a:latin typeface="Times New Roman"/>
                <a:cs typeface="Times New Roman"/>
              </a:rPr>
              <a:t>os</a:t>
            </a:r>
            <a:r>
              <a:rPr dirty="0" sz="1250" spc="235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dirty="0" sz="1250" spc="-50">
                <a:solidFill>
                  <a:srgbClr val="3F3F3F"/>
                </a:solidFill>
                <a:latin typeface="Times New Roman"/>
                <a:cs typeface="Times New Roman"/>
              </a:rPr>
              <a:t>t</a:t>
            </a:r>
            <a:endParaRPr sz="12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345"/>
              </a:spcBef>
            </a:pPr>
            <a:r>
              <a:rPr dirty="0" sz="1250">
                <a:solidFill>
                  <a:srgbClr val="545454"/>
                </a:solidFill>
                <a:latin typeface="Times New Roman"/>
                <a:cs typeface="Times New Roman"/>
              </a:rPr>
              <a:t>c</a:t>
            </a:r>
            <a:r>
              <a:rPr dirty="0" sz="1250">
                <a:solidFill>
                  <a:srgbClr val="5E5E5E"/>
                </a:solidFill>
                <a:latin typeface="Times New Roman"/>
                <a:cs typeface="Times New Roman"/>
              </a:rPr>
              <a:t>n</a:t>
            </a:r>
            <a:r>
              <a:rPr dirty="0" sz="1250" spc="-35">
                <a:solidFill>
                  <a:srgbClr val="5E5E5E"/>
                </a:solidFill>
                <a:latin typeface="Times New Roman"/>
                <a:cs typeface="Times New Roman"/>
              </a:rPr>
              <a:t> </a:t>
            </a:r>
            <a:r>
              <a:rPr dirty="0" sz="1250" spc="-105">
                <a:solidFill>
                  <a:srgbClr val="606060"/>
                </a:solidFill>
                <a:latin typeface="Times New Roman"/>
                <a:cs typeface="Times New Roman"/>
              </a:rPr>
              <a:t>c</a:t>
            </a:r>
            <a:r>
              <a:rPr dirty="0" sz="1250" spc="-4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D1D1D"/>
                </a:solidFill>
                <a:latin typeface="Times New Roman"/>
                <a:cs typeface="Times New Roman"/>
              </a:rPr>
              <a:t>:</a:t>
            </a:r>
            <a:r>
              <a:rPr dirty="0" sz="1250" spc="11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dirty="0" sz="1250" spc="-50">
                <a:solidFill>
                  <a:srgbClr val="494949"/>
                </a:solidFill>
                <a:latin typeface="Times New Roman"/>
                <a:cs typeface="Times New Roman"/>
              </a:rPr>
              <a:t>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0055623" y="224919"/>
            <a:ext cx="456565" cy="49466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12395" indent="-99695">
              <a:lnSpc>
                <a:spcPct val="100000"/>
              </a:lnSpc>
              <a:spcBef>
                <a:spcPts val="440"/>
              </a:spcBef>
              <a:buClr>
                <a:srgbClr val="CD5D38"/>
              </a:buClr>
              <a:buChar char="•"/>
              <a:tabLst>
                <a:tab pos="112395" algn="l"/>
              </a:tabLst>
            </a:pPr>
            <a:r>
              <a:rPr dirty="0" sz="1250">
                <a:solidFill>
                  <a:srgbClr val="9E6959"/>
                </a:solidFill>
                <a:latin typeface="Times New Roman"/>
                <a:cs typeface="Times New Roman"/>
              </a:rPr>
              <a:t>•</a:t>
            </a:r>
            <a:r>
              <a:rPr dirty="0" sz="1250" spc="110">
                <a:solidFill>
                  <a:srgbClr val="9E6959"/>
                </a:solidFill>
                <a:latin typeface="Times New Roman"/>
                <a:cs typeface="Times New Roman"/>
              </a:rPr>
              <a:t> </a:t>
            </a:r>
            <a:r>
              <a:rPr dirty="0" sz="1250" spc="-175">
                <a:solidFill>
                  <a:srgbClr val="A87244"/>
                </a:solidFill>
                <a:latin typeface="Times New Roman"/>
                <a:cs typeface="Times New Roman"/>
              </a:rPr>
              <a:t>•</a:t>
            </a:r>
            <a:r>
              <a:rPr dirty="0" sz="1250" spc="-80">
                <a:solidFill>
                  <a:srgbClr val="A87244"/>
                </a:solidFill>
                <a:latin typeface="Times New Roman"/>
                <a:cs typeface="Times New Roman"/>
              </a:rPr>
              <a:t> </a:t>
            </a:r>
            <a:r>
              <a:rPr dirty="0" sz="1250" spc="-50">
                <a:solidFill>
                  <a:srgbClr val="A37754"/>
                </a:solidFill>
                <a:latin typeface="Times New Roman"/>
                <a:cs typeface="Times New Roman"/>
              </a:rPr>
              <a:t>.</a:t>
            </a:r>
            <a:endParaRPr sz="1250">
              <a:latin typeface="Times New Roman"/>
              <a:cs typeface="Times New Roman"/>
            </a:endParaRPr>
          </a:p>
          <a:p>
            <a:pPr marL="120650">
              <a:lnSpc>
                <a:spcPct val="100000"/>
              </a:lnSpc>
              <a:spcBef>
                <a:spcPts val="345"/>
              </a:spcBef>
            </a:pPr>
            <a:r>
              <a:rPr dirty="0" sz="1250">
                <a:solidFill>
                  <a:srgbClr val="2B2B2B"/>
                </a:solidFill>
                <a:latin typeface="Times New Roman"/>
                <a:cs typeface="Times New Roman"/>
              </a:rPr>
              <a:t>r</a:t>
            </a:r>
            <a:r>
              <a:rPr dirty="0" sz="1250" spc="4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212121"/>
                </a:solidFill>
                <a:latin typeface="Times New Roman"/>
                <a:cs typeface="Times New Roman"/>
              </a:rPr>
              <a:t>t</a:t>
            </a:r>
            <a:r>
              <a:rPr dirty="0" sz="1250" spc="-2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250" spc="-114">
                <a:solidFill>
                  <a:srgbClr val="3D3D3D"/>
                </a:solidFill>
                <a:latin typeface="Times New Roman"/>
                <a:cs typeface="Times New Roman"/>
              </a:rPr>
              <a:t>o </a:t>
            </a:r>
            <a:r>
              <a:rPr dirty="0" sz="1250" spc="-645">
                <a:solidFill>
                  <a:srgbClr val="494949"/>
                </a:solidFill>
                <a:latin typeface="Times New Roman"/>
                <a:cs typeface="Times New Roman"/>
              </a:rPr>
              <a:t>c</a:t>
            </a:r>
            <a:r>
              <a:rPr dirty="0" sz="1250" spc="-114">
                <a:solidFill>
                  <a:srgbClr val="212121"/>
                </a:solidFill>
                <a:latin typeface="Times New Roman"/>
                <a:cs typeface="Times New Roman"/>
              </a:rPr>
              <a:t>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0585649" y="224919"/>
            <a:ext cx="1910714" cy="494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8260" marR="5080" indent="-36195">
              <a:lnSpc>
                <a:spcPct val="123100"/>
              </a:lnSpc>
              <a:spcBef>
                <a:spcPts val="95"/>
              </a:spcBef>
              <a:tabLst>
                <a:tab pos="328930" algn="l"/>
                <a:tab pos="366395" algn="l"/>
                <a:tab pos="1341120" algn="l"/>
              </a:tabLst>
            </a:pPr>
            <a:r>
              <a:rPr dirty="0" sz="1250">
                <a:solidFill>
                  <a:srgbClr val="A37E62"/>
                </a:solidFill>
                <a:latin typeface="Times New Roman"/>
                <a:cs typeface="Times New Roman"/>
              </a:rPr>
              <a:t>-</a:t>
            </a:r>
            <a:r>
              <a:rPr dirty="0" sz="1250" spc="-45">
                <a:solidFill>
                  <a:srgbClr val="A37E62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B1774F"/>
                </a:solidFill>
                <a:latin typeface="Times New Roman"/>
                <a:cs typeface="Times New Roman"/>
              </a:rPr>
              <a:t>•</a:t>
            </a:r>
            <a:r>
              <a:rPr dirty="0" sz="1250" spc="75">
                <a:solidFill>
                  <a:srgbClr val="B1774F"/>
                </a:solidFill>
                <a:latin typeface="Times New Roman"/>
                <a:cs typeface="Times New Roman"/>
              </a:rPr>
              <a:t> </a:t>
            </a:r>
            <a:r>
              <a:rPr dirty="0" sz="1250" spc="-50">
                <a:solidFill>
                  <a:srgbClr val="A87562"/>
                </a:solidFill>
                <a:latin typeface="Times New Roman"/>
                <a:cs typeface="Times New Roman"/>
              </a:rPr>
              <a:t>'</a:t>
            </a:r>
            <a:r>
              <a:rPr dirty="0" sz="1250">
                <a:solidFill>
                  <a:srgbClr val="A87562"/>
                </a:solidFill>
                <a:latin typeface="Times New Roman"/>
                <a:cs typeface="Times New Roman"/>
              </a:rPr>
              <a:t>		</a:t>
            </a:r>
            <a:r>
              <a:rPr dirty="0" sz="1250" spc="-195">
                <a:solidFill>
                  <a:srgbClr val="696969"/>
                </a:solidFill>
                <a:latin typeface="Times New Roman"/>
                <a:cs typeface="Times New Roman"/>
              </a:rPr>
              <a:t>I</a:t>
            </a:r>
            <a:r>
              <a:rPr dirty="0" sz="1250" spc="-45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250" spc="-90">
                <a:solidFill>
                  <a:srgbClr val="666666"/>
                </a:solidFill>
                <a:latin typeface="Times New Roman"/>
                <a:cs typeface="Times New Roman"/>
              </a:rPr>
              <a:t>s.</a:t>
            </a:r>
            <a:r>
              <a:rPr dirty="0" sz="1250" spc="-16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A1A1A"/>
                </a:solidFill>
                <a:latin typeface="Times New Roman"/>
                <a:cs typeface="Times New Roman"/>
              </a:rPr>
              <a:t>•</a:t>
            </a:r>
            <a:r>
              <a:rPr dirty="0" sz="1250" spc="9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181818"/>
                </a:solidFill>
                <a:latin typeface="Times New Roman"/>
                <a:cs typeface="Times New Roman"/>
              </a:rPr>
              <a:t>I</a:t>
            </a:r>
            <a:r>
              <a:rPr dirty="0" sz="1250" spc="7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676767"/>
                </a:solidFill>
                <a:latin typeface="Times New Roman"/>
                <a:cs typeface="Times New Roman"/>
              </a:rPr>
              <a:t>'</a:t>
            </a:r>
            <a:r>
              <a:rPr dirty="0" sz="1250" spc="145">
                <a:solidFill>
                  <a:srgbClr val="676767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484848"/>
                </a:solidFill>
                <a:latin typeface="Times New Roman"/>
                <a:cs typeface="Times New Roman"/>
              </a:rPr>
              <a:t>e</a:t>
            </a:r>
            <a:r>
              <a:rPr dirty="0" sz="1250">
                <a:solidFill>
                  <a:srgbClr val="282828"/>
                </a:solidFill>
                <a:latin typeface="Times New Roman"/>
                <a:cs typeface="Times New Roman"/>
              </a:rPr>
              <a:t>nn</a:t>
            </a:r>
            <a:r>
              <a:rPr dirty="0" sz="1250" spc="40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1250" spc="-730">
                <a:solidFill>
                  <a:srgbClr val="494949"/>
                </a:solidFill>
                <a:latin typeface="Times New Roman"/>
                <a:cs typeface="Times New Roman"/>
              </a:rPr>
              <a:t>*</a:t>
            </a:r>
            <a:r>
              <a:rPr dirty="0" sz="1250" spc="-114">
                <a:solidFill>
                  <a:srgbClr val="85705B"/>
                </a:solidFill>
                <a:latin typeface="Times New Roman"/>
                <a:cs typeface="Times New Roman"/>
              </a:rPr>
              <a:t>s</a:t>
            </a:r>
            <a:r>
              <a:rPr dirty="0" sz="1250">
                <a:solidFill>
                  <a:srgbClr val="85705B"/>
                </a:solidFill>
                <a:latin typeface="Times New Roman"/>
                <a:cs typeface="Times New Roman"/>
              </a:rPr>
              <a:t>	</a:t>
            </a:r>
            <a:r>
              <a:rPr dirty="0" sz="1250">
                <a:solidFill>
                  <a:srgbClr val="5E5242"/>
                </a:solidFill>
                <a:latin typeface="Times New Roman"/>
                <a:cs typeface="Times New Roman"/>
              </a:rPr>
              <a:t>t</a:t>
            </a:r>
            <a:r>
              <a:rPr dirty="0" sz="1250" spc="480">
                <a:solidFill>
                  <a:srgbClr val="5E5242"/>
                </a:solidFill>
                <a:latin typeface="Times New Roman"/>
                <a:cs typeface="Times New Roman"/>
              </a:rPr>
              <a:t> </a:t>
            </a:r>
            <a:r>
              <a:rPr dirty="0" sz="1250" spc="-20">
                <a:solidFill>
                  <a:srgbClr val="4D4D4D"/>
                </a:solidFill>
                <a:latin typeface="Times New Roman"/>
                <a:cs typeface="Times New Roman"/>
              </a:rPr>
              <a:t>1</a:t>
            </a:r>
            <a:r>
              <a:rPr dirty="0" sz="1250" spc="-135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444444"/>
                </a:solidFill>
                <a:latin typeface="Times New Roman"/>
                <a:cs typeface="Times New Roman"/>
              </a:rPr>
              <a:t>t</a:t>
            </a:r>
            <a:r>
              <a:rPr dirty="0" sz="1250" spc="-15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363636"/>
                </a:solidFill>
                <a:latin typeface="Times New Roman"/>
                <a:cs typeface="Times New Roman"/>
              </a:rPr>
              <a:t>t:</a:t>
            </a:r>
            <a:r>
              <a:rPr dirty="0" sz="1250" spc="45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dirty="0" sz="1250" spc="-50">
                <a:solidFill>
                  <a:srgbClr val="4B4B4B"/>
                </a:solidFill>
                <a:latin typeface="Times New Roman"/>
                <a:cs typeface="Times New Roman"/>
              </a:rPr>
              <a:t>i </a:t>
            </a:r>
            <a:r>
              <a:rPr dirty="0" sz="1250">
                <a:solidFill>
                  <a:srgbClr val="282828"/>
                </a:solidFill>
                <a:latin typeface="Times New Roman"/>
                <a:cs typeface="Times New Roman"/>
              </a:rPr>
              <a:t>I</a:t>
            </a:r>
            <a:r>
              <a:rPr dirty="0" sz="1250" spc="15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1250" spc="-50">
                <a:solidFill>
                  <a:srgbClr val="3B3B3B"/>
                </a:solidFill>
                <a:latin typeface="Times New Roman"/>
                <a:cs typeface="Times New Roman"/>
              </a:rPr>
              <a:t>t</a:t>
            </a:r>
            <a:r>
              <a:rPr dirty="0" sz="1250">
                <a:solidFill>
                  <a:srgbClr val="3B3B3B"/>
                </a:solidFill>
                <a:latin typeface="Times New Roman"/>
                <a:cs typeface="Times New Roman"/>
              </a:rPr>
              <a:t>	</a:t>
            </a:r>
            <a:r>
              <a:rPr dirty="0" sz="1250" spc="-175">
                <a:solidFill>
                  <a:srgbClr val="3B3B3B"/>
                </a:solidFill>
                <a:latin typeface="Times New Roman"/>
                <a:cs typeface="Times New Roman"/>
              </a:rPr>
              <a:t>¥</a:t>
            </a:r>
            <a:r>
              <a:rPr dirty="0" sz="1250" spc="-1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dirty="0" sz="1250" spc="204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5B5B5B"/>
                </a:solidFill>
                <a:latin typeface="Times New Roman"/>
                <a:cs typeface="Times New Roman"/>
              </a:rPr>
              <a:t>:</a:t>
            </a:r>
            <a:r>
              <a:rPr dirty="0" sz="1250" spc="55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dirty="0" sz="1250" spc="-50">
                <a:solidFill>
                  <a:srgbClr val="575757"/>
                </a:solidFill>
                <a:latin typeface="Times New Roman"/>
                <a:cs typeface="Times New Roman"/>
              </a:rPr>
              <a:t>;</a:t>
            </a:r>
            <a:endParaRPr sz="1250">
              <a:latin typeface="Times New Roman"/>
              <a:cs typeface="Times New Roman"/>
            </a:endParaRPr>
          </a:p>
        </p:txBody>
      </p:sp>
      <p:graphicFrame>
        <p:nvGraphicFramePr>
          <p:cNvPr id="35" name="object 35" descr=""/>
          <p:cNvGraphicFramePr>
            <a:graphicFrameLocks noGrp="1"/>
          </p:cNvGraphicFramePr>
          <p:nvPr/>
        </p:nvGraphicFramePr>
        <p:xfrm>
          <a:off x="7018749" y="756181"/>
          <a:ext cx="11892915" cy="39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015"/>
                <a:gridCol w="353695"/>
                <a:gridCol w="230504"/>
                <a:gridCol w="367030"/>
                <a:gridCol w="5735320"/>
                <a:gridCol w="4754245"/>
              </a:tblGrid>
              <a:tr h="203200">
                <a:tc>
                  <a:txBody>
                    <a:bodyPr/>
                    <a:lstStyle/>
                    <a:p>
                      <a:pPr algn="ctr" marR="12065">
                        <a:lnSpc>
                          <a:spcPts val="1385"/>
                        </a:lnSpc>
                      </a:pPr>
                      <a:r>
                        <a:rPr dirty="0" sz="1250">
                          <a:solidFill>
                            <a:srgbClr val="646464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1250" spc="10">
                          <a:solidFill>
                            <a:srgbClr val="64646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30">
                          <a:solidFill>
                            <a:srgbClr val="8091A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250" spc="-110">
                          <a:solidFill>
                            <a:srgbClr val="8091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363636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L="96520" marR="58419" indent="-96520">
                        <a:lnSpc>
                          <a:spcPts val="1385"/>
                        </a:lnSpc>
                        <a:buClr>
                          <a:srgbClr val="1A1A1A"/>
                        </a:buClr>
                        <a:buChar char="•"/>
                        <a:tabLst>
                          <a:tab pos="96520" algn="l"/>
                        </a:tabLst>
                      </a:pPr>
                      <a:r>
                        <a:rPr dirty="0" sz="1250">
                          <a:solidFill>
                            <a:srgbClr val="5D5D5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250" spc="-114">
                          <a:solidFill>
                            <a:srgbClr val="5D5D5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solidFill>
                            <a:srgbClr val="46576B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ts val="1385"/>
                        </a:lnSpc>
                      </a:pPr>
                      <a:r>
                        <a:rPr dirty="0" sz="1250" spc="-120">
                          <a:solidFill>
                            <a:srgbClr val="4D4D4D"/>
                          </a:solidFill>
                          <a:latin typeface="Times New Roman"/>
                          <a:cs typeface="Times New Roman"/>
                        </a:rPr>
                        <a:t>I </a:t>
                      </a:r>
                      <a:r>
                        <a:rPr dirty="0" sz="1250" spc="-50">
                          <a:solidFill>
                            <a:srgbClr val="444444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385"/>
                        </a:lnSpc>
                      </a:pPr>
                      <a:r>
                        <a:rPr dirty="0" sz="1250">
                          <a:solidFill>
                            <a:srgbClr val="727272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1250" spc="-75">
                          <a:solidFill>
                            <a:srgbClr val="72727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65">
                          <a:solidFill>
                            <a:srgbClr val="2F2F2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250" spc="65">
                          <a:solidFill>
                            <a:srgbClr val="5E607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385"/>
                        </a:lnSpc>
                      </a:pPr>
                      <a:r>
                        <a:rPr dirty="0" sz="1250">
                          <a:solidFill>
                            <a:srgbClr val="546075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1250" spc="-80">
                          <a:solidFill>
                            <a:srgbClr val="54607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14">
                          <a:solidFill>
                            <a:srgbClr val="757575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dirty="0" sz="1250" spc="-150">
                          <a:solidFill>
                            <a:srgbClr val="75757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59707E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1250" spc="50">
                          <a:solidFill>
                            <a:srgbClr val="59707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444444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250" spc="-10">
                          <a:solidFill>
                            <a:srgbClr val="44444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383838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250" spc="-20">
                          <a:solidFill>
                            <a:srgbClr val="38383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444444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250" spc="-55">
                          <a:solidFill>
                            <a:srgbClr val="44444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343434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1250" spc="-55">
                          <a:solidFill>
                            <a:srgbClr val="3434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2A2A2A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1250" spc="65">
                          <a:solidFill>
                            <a:srgbClr val="2A2A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646464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1250" spc="-35">
                          <a:solidFill>
                            <a:srgbClr val="64646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232323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1250" spc="160">
                          <a:solidFill>
                            <a:srgbClr val="23232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25">
                          <a:solidFill>
                            <a:srgbClr val="161616"/>
                          </a:solidFill>
                          <a:latin typeface="Times New Roman"/>
                          <a:cs typeface="Times New Roman"/>
                        </a:rPr>
                        <a:t>¿.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1135">
                <a:tc>
                  <a:txBody>
                    <a:bodyPr/>
                    <a:lstStyle/>
                    <a:p>
                      <a:pPr algn="ctr" marL="52069">
                        <a:lnSpc>
                          <a:spcPts val="1305"/>
                        </a:lnSpc>
                        <a:spcBef>
                          <a:spcPts val="95"/>
                        </a:spcBef>
                      </a:pPr>
                      <a:r>
                        <a:rPr dirty="0" sz="1150">
                          <a:solidFill>
                            <a:srgbClr val="484848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150" spc="150">
                          <a:solidFill>
                            <a:srgbClr val="484848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150" spc="-25">
                          <a:solidFill>
                            <a:srgbClr val="494949"/>
                          </a:solidFill>
                          <a:latin typeface="Times New Roman"/>
                          <a:cs typeface="Times New Roman"/>
                        </a:rPr>
                        <a:t>ri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"/>
                </a:tc>
                <a:tc>
                  <a:txBody>
                    <a:bodyPr/>
                    <a:lstStyle/>
                    <a:p>
                      <a:pPr algn="r" marL="88900" marR="48260" indent="-88900">
                        <a:lnSpc>
                          <a:spcPts val="1305"/>
                        </a:lnSpc>
                        <a:spcBef>
                          <a:spcPts val="95"/>
                        </a:spcBef>
                        <a:buClr>
                          <a:srgbClr val="444444"/>
                        </a:buClr>
                        <a:buChar char="•"/>
                        <a:tabLst>
                          <a:tab pos="88900" algn="l"/>
                        </a:tabLst>
                      </a:pPr>
                      <a:r>
                        <a:rPr dirty="0" sz="1150" spc="-5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"/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1305"/>
                        </a:lnSpc>
                        <a:spcBef>
                          <a:spcPts val="95"/>
                        </a:spcBef>
                      </a:pPr>
                      <a:r>
                        <a:rPr dirty="0" sz="1150" spc="-50">
                          <a:solidFill>
                            <a:srgbClr val="444444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305"/>
                        </a:lnSpc>
                        <a:spcBef>
                          <a:spcPts val="95"/>
                        </a:spcBef>
                      </a:pPr>
                      <a:r>
                        <a:rPr dirty="0" sz="1150" spc="-50">
                          <a:solidFill>
                            <a:srgbClr val="696969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305"/>
                        </a:lnSpc>
                        <a:spcBef>
                          <a:spcPts val="95"/>
                        </a:spcBef>
                      </a:pPr>
                      <a:r>
                        <a:rPr dirty="0" sz="1150" spc="-50">
                          <a:solidFill>
                            <a:srgbClr val="C17523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"/>
                </a:tc>
              </a:tr>
            </a:tbl>
          </a:graphicData>
        </a:graphic>
      </p:graphicFrame>
      <p:sp>
        <p:nvSpPr>
          <p:cNvPr id="36" name="object 36" descr=""/>
          <p:cNvSpPr txBox="1"/>
          <p:nvPr/>
        </p:nvSpPr>
        <p:spPr>
          <a:xfrm>
            <a:off x="1031609" y="4566569"/>
            <a:ext cx="9052560" cy="3664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900" spc="-90">
                <a:latin typeface="Lucida Sans Unicode"/>
                <a:cs typeface="Lucida Sans Unicode"/>
              </a:rPr>
              <a:t>Exploratory</a:t>
            </a:r>
            <a:r>
              <a:rPr dirty="0" sz="5900" spc="-229">
                <a:latin typeface="Lucida Sans Unicode"/>
                <a:cs typeface="Lucida Sans Unicode"/>
              </a:rPr>
              <a:t> </a:t>
            </a:r>
            <a:r>
              <a:rPr dirty="0" sz="5900">
                <a:solidFill>
                  <a:srgbClr val="0C0C0C"/>
                </a:solidFill>
                <a:latin typeface="Lucida Sans Unicode"/>
                <a:cs typeface="Lucida Sans Unicode"/>
              </a:rPr>
              <a:t>Data</a:t>
            </a:r>
            <a:r>
              <a:rPr dirty="0" sz="5900" spc="-375">
                <a:solidFill>
                  <a:srgbClr val="0C0C0C"/>
                </a:solidFill>
                <a:latin typeface="Lucida Sans Unicode"/>
                <a:cs typeface="Lucida Sans Unicode"/>
              </a:rPr>
              <a:t> </a:t>
            </a:r>
            <a:r>
              <a:rPr dirty="0" sz="5900" spc="-75">
                <a:latin typeface="Lucida Sans Unicode"/>
                <a:cs typeface="Lucida Sans Unicode"/>
              </a:rPr>
              <a:t>Analysis</a:t>
            </a:r>
            <a:endParaRPr sz="5900">
              <a:latin typeface="Lucida Sans Unicode"/>
              <a:cs typeface="Lucida Sans Unicode"/>
            </a:endParaRPr>
          </a:p>
          <a:p>
            <a:pPr marL="26670">
              <a:lnSpc>
                <a:spcPct val="100000"/>
              </a:lnSpc>
              <a:spcBef>
                <a:spcPts val="4054"/>
              </a:spcBef>
            </a:pPr>
            <a:r>
              <a:rPr dirty="0" sz="2250" spc="-25">
                <a:solidFill>
                  <a:srgbClr val="0C0C0C"/>
                </a:solidFill>
                <a:latin typeface="Calibri"/>
                <a:cs typeface="Calibri"/>
              </a:rPr>
              <a:t>O1</a:t>
            </a:r>
            <a:endParaRPr sz="2250">
              <a:latin typeface="Calibri"/>
              <a:cs typeface="Calibri"/>
            </a:endParaRPr>
          </a:p>
          <a:p>
            <a:pPr marL="14604">
              <a:lnSpc>
                <a:spcPct val="100000"/>
              </a:lnSpc>
              <a:spcBef>
                <a:spcPts val="2720"/>
              </a:spcBef>
              <a:tabLst>
                <a:tab pos="2820670" algn="l"/>
              </a:tabLst>
            </a:pPr>
            <a:r>
              <a:rPr dirty="0" sz="2900">
                <a:solidFill>
                  <a:srgbClr val="0A0A0A"/>
                </a:solidFill>
                <a:latin typeface="Lucida Sans Unicode"/>
                <a:cs typeface="Lucida Sans Unicode"/>
              </a:rPr>
              <a:t>Data</a:t>
            </a:r>
            <a:r>
              <a:rPr dirty="0" sz="2900" spc="-75">
                <a:solidFill>
                  <a:srgbClr val="0A0A0A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latin typeface="Lucida Sans Unicode"/>
                <a:cs typeface="Lucida Sans Unicode"/>
              </a:rPr>
              <a:t>Loading</a:t>
            </a:r>
            <a:r>
              <a:rPr dirty="0" sz="2900">
                <a:latin typeface="Lucida Sans Unicode"/>
                <a:cs typeface="Lucida Sans Unicode"/>
              </a:rPr>
              <a:t>	</a:t>
            </a:r>
            <a:r>
              <a:rPr dirty="0" sz="2900" spc="-10">
                <a:latin typeface="Lucida Sans Unicode"/>
                <a:cs typeface="Lucida Sans Unicode"/>
              </a:rPr>
              <a:t>Exploration</a:t>
            </a:r>
            <a:endParaRPr sz="2900">
              <a:latin typeface="Lucida Sans Unicode"/>
              <a:cs typeface="Lucida Sans Unicode"/>
            </a:endParaRPr>
          </a:p>
          <a:p>
            <a:pPr marL="15875" marR="1172210" indent="3175">
              <a:lnSpc>
                <a:spcPct val="127499"/>
              </a:lnSpc>
              <a:spcBef>
                <a:spcPts val="975"/>
              </a:spcBef>
            </a:pPr>
            <a:r>
              <a:rPr dirty="0" sz="2500" spc="-125">
                <a:latin typeface="Lucida Sans Unicode"/>
                <a:cs typeface="Lucida Sans Unicode"/>
              </a:rPr>
              <a:t>Imported</a:t>
            </a:r>
            <a:r>
              <a:rPr dirty="0" sz="2500" spc="-35">
                <a:latin typeface="Lucida Sans Unicode"/>
                <a:cs typeface="Lucida Sans Unicode"/>
              </a:rPr>
              <a:t> </a:t>
            </a:r>
            <a:r>
              <a:rPr dirty="0" sz="2500" spc="-165">
                <a:latin typeface="Lucida Sans Unicode"/>
                <a:cs typeface="Lucida Sans Unicode"/>
              </a:rPr>
              <a:t>with</a:t>
            </a:r>
            <a:r>
              <a:rPr dirty="0" sz="2500" spc="-70">
                <a:latin typeface="Lucida Sans Unicode"/>
                <a:cs typeface="Lucida Sans Unicode"/>
              </a:rPr>
              <a:t> </a:t>
            </a:r>
            <a:r>
              <a:rPr dirty="0" sz="2500" spc="-100">
                <a:latin typeface="Lucida Sans Unicode"/>
                <a:cs typeface="Lucida Sans Unicode"/>
              </a:rPr>
              <a:t>pandas,</a:t>
            </a:r>
            <a:r>
              <a:rPr dirty="0" sz="2500" spc="-20">
                <a:latin typeface="Lucida Sans Unicode"/>
                <a:cs typeface="Lucida Sans Unicode"/>
              </a:rPr>
              <a:t> </a:t>
            </a:r>
            <a:r>
              <a:rPr dirty="0" sz="2500" spc="-65">
                <a:latin typeface="Lucida Sans Unicode"/>
                <a:cs typeface="Lucida Sans Unicode"/>
              </a:rPr>
              <a:t>checked </a:t>
            </a:r>
            <a:r>
              <a:rPr dirty="0" sz="2500" spc="-110">
                <a:latin typeface="Lucida Sans Unicode"/>
                <a:cs typeface="Lucida Sans Unicode"/>
              </a:rPr>
              <a:t>structure</a:t>
            </a:r>
            <a:r>
              <a:rPr dirty="0" sz="2500" spc="-30">
                <a:latin typeface="Lucida Sans Unicode"/>
                <a:cs typeface="Lucida Sans Unicode"/>
              </a:rPr>
              <a:t> </a:t>
            </a:r>
            <a:r>
              <a:rPr dirty="0" sz="2500" spc="-130">
                <a:solidFill>
                  <a:srgbClr val="0A0A0A"/>
                </a:solidFill>
                <a:latin typeface="Lucida Sans Unicode"/>
                <a:cs typeface="Lucida Sans Unicode"/>
              </a:rPr>
              <a:t>and</a:t>
            </a:r>
            <a:r>
              <a:rPr dirty="0" sz="2500" spc="-135">
                <a:solidFill>
                  <a:srgbClr val="0A0A0A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10">
                <a:latin typeface="Lucida Sans Unicode"/>
                <a:cs typeface="Lucida Sans Unicode"/>
              </a:rPr>
              <a:t>summary </a:t>
            </a:r>
            <a:r>
              <a:rPr dirty="0" sz="2500" spc="-20">
                <a:latin typeface="Lucida Sans Unicode"/>
                <a:cs typeface="Lucida Sans Unicode"/>
              </a:rPr>
              <a:t>statistics.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0572680" y="4566569"/>
            <a:ext cx="2545080" cy="9239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900" spc="-10">
                <a:solidFill>
                  <a:srgbClr val="111111"/>
                </a:solidFill>
                <a:latin typeface="Lucida Sans Unicode"/>
                <a:cs typeface="Lucida Sans Unicode"/>
              </a:rPr>
              <a:t>Python</a:t>
            </a:r>
            <a:endParaRPr sz="5900">
              <a:latin typeface="Lucida Sans Unicode"/>
              <a:cs typeface="Lucida Sans Unicode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978921" y="8750737"/>
            <a:ext cx="445134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-25">
                <a:latin typeface="Courier New"/>
                <a:cs typeface="Courier New"/>
              </a:rPr>
              <a:t>03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034040" y="9508829"/>
            <a:ext cx="7268209" cy="1083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50">
                <a:latin typeface="Lucida Sans Unicode"/>
                <a:cs typeface="Lucida Sans Unicode"/>
              </a:rPr>
              <a:t>Feature</a:t>
            </a:r>
            <a:r>
              <a:rPr dirty="0" sz="2850" spc="160">
                <a:latin typeface="Lucida Sans Unicode"/>
                <a:cs typeface="Lucida Sans Unicode"/>
              </a:rPr>
              <a:t> </a:t>
            </a:r>
            <a:r>
              <a:rPr dirty="0" sz="2850" spc="-10">
                <a:latin typeface="Lucida Sans Unicode"/>
                <a:cs typeface="Lucida Sans Unicode"/>
              </a:rPr>
              <a:t>Engineering</a:t>
            </a:r>
            <a:endParaRPr sz="2850">
              <a:latin typeface="Lucida Sans Unicode"/>
              <a:cs typeface="Lucida Sans Unicode"/>
            </a:endParaRPr>
          </a:p>
          <a:p>
            <a:pPr marL="22225">
              <a:lnSpc>
                <a:spcPct val="100000"/>
              </a:lnSpc>
              <a:spcBef>
                <a:spcPts val="1960"/>
              </a:spcBef>
            </a:pPr>
            <a:r>
              <a:rPr dirty="0" sz="2450" spc="-55">
                <a:latin typeface="Lucida Sans Unicode"/>
                <a:cs typeface="Lucida Sans Unicode"/>
              </a:rPr>
              <a:t>Created</a:t>
            </a:r>
            <a:r>
              <a:rPr dirty="0" sz="2450" spc="-140">
                <a:latin typeface="Lucida Sans Unicode"/>
                <a:cs typeface="Lucida Sans Unicode"/>
              </a:rPr>
              <a:t> </a:t>
            </a:r>
            <a:r>
              <a:rPr dirty="0" sz="2450" spc="-90">
                <a:latin typeface="Lucida Sans Unicode"/>
                <a:cs typeface="Lucida Sans Unicode"/>
              </a:rPr>
              <a:t>age_group</a:t>
            </a:r>
            <a:r>
              <a:rPr dirty="0" sz="2450" spc="-65">
                <a:latin typeface="Lucida Sans Unicode"/>
                <a:cs typeface="Lucida Sans Unicode"/>
              </a:rPr>
              <a:t> </a:t>
            </a:r>
            <a:r>
              <a:rPr dirty="0" sz="2450" spc="-114">
                <a:latin typeface="Lucida Sans Unicode"/>
                <a:cs typeface="Lucida Sans Unicode"/>
              </a:rPr>
              <a:t>and</a:t>
            </a:r>
            <a:r>
              <a:rPr dirty="0" sz="2450" spc="-135">
                <a:latin typeface="Lucida Sans Unicode"/>
                <a:cs typeface="Lucida Sans Unicode"/>
              </a:rPr>
              <a:t> </a:t>
            </a:r>
            <a:r>
              <a:rPr dirty="0" sz="2450" spc="-40">
                <a:latin typeface="Lucida Sans Unicode"/>
                <a:cs typeface="Lucida Sans Unicode"/>
              </a:rPr>
              <a:t>purchase_frequency_days.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3108517" y="3093664"/>
            <a:ext cx="662305" cy="8166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89584" algn="l"/>
              </a:tabLst>
            </a:pPr>
            <a:r>
              <a:rPr dirty="0" sz="5150" spc="-50">
                <a:solidFill>
                  <a:srgbClr val="28677C"/>
                </a:solidFill>
                <a:latin typeface="Calibri"/>
                <a:cs typeface="Calibri"/>
              </a:rPr>
              <a:t>I</a:t>
            </a:r>
            <a:r>
              <a:rPr dirty="0" sz="5150">
                <a:solidFill>
                  <a:srgbClr val="28677C"/>
                </a:solidFill>
                <a:latin typeface="Calibri"/>
                <a:cs typeface="Calibri"/>
              </a:rPr>
              <a:t>	</a:t>
            </a:r>
            <a:r>
              <a:rPr dirty="0" sz="5150" spc="-50">
                <a:solidFill>
                  <a:srgbClr val="0A4D64"/>
                </a:solidFill>
                <a:latin typeface="Calibri"/>
                <a:cs typeface="Calibri"/>
              </a:rPr>
              <a:t>I</a:t>
            </a:r>
            <a:endParaRPr sz="5150">
              <a:latin typeface="Calibri"/>
              <a:cs typeface="Calibri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0180885" y="6671916"/>
            <a:ext cx="6929755" cy="1072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35">
                <a:latin typeface="Lucida Sans Unicode"/>
                <a:cs typeface="Lucida Sans Unicode"/>
              </a:rPr>
              <a:t>Missing</a:t>
            </a:r>
            <a:r>
              <a:rPr dirty="0" sz="2900" spc="-195">
                <a:latin typeface="Lucida Sans Unicode"/>
                <a:cs typeface="Lucida Sans Unicode"/>
              </a:rPr>
              <a:t> </a:t>
            </a:r>
            <a:r>
              <a:rPr dirty="0" sz="2900">
                <a:latin typeface="Lucida Sans Unicode"/>
                <a:cs typeface="Lucida Sans Unicode"/>
              </a:rPr>
              <a:t>Data</a:t>
            </a:r>
            <a:r>
              <a:rPr dirty="0" sz="2900" spc="-114"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0C0C0C"/>
                </a:solidFill>
                <a:latin typeface="Lucida Sans Unicode"/>
                <a:cs typeface="Lucida Sans Unicode"/>
              </a:rPr>
              <a:t>Handling</a:t>
            </a:r>
            <a:endParaRPr sz="2900">
              <a:latin typeface="Lucida Sans Unicode"/>
              <a:cs typeface="Lucida Sans Unicode"/>
            </a:endParaRPr>
          </a:p>
          <a:p>
            <a:pPr marL="17780">
              <a:lnSpc>
                <a:spcPct val="100000"/>
              </a:lnSpc>
              <a:spcBef>
                <a:spcPts val="1820"/>
              </a:spcBef>
            </a:pPr>
            <a:r>
              <a:rPr dirty="0" sz="2450" spc="-120">
                <a:latin typeface="Lucida Sans Unicode"/>
                <a:cs typeface="Lucida Sans Unicode"/>
              </a:rPr>
              <a:t>Imputed</a:t>
            </a:r>
            <a:r>
              <a:rPr dirty="0" sz="2450" spc="-75">
                <a:latin typeface="Lucida Sans Unicode"/>
                <a:cs typeface="Lucida Sans Unicode"/>
              </a:rPr>
              <a:t> </a:t>
            </a:r>
            <a:r>
              <a:rPr dirty="0" sz="2450" spc="-25">
                <a:latin typeface="Lucida Sans Unicode"/>
                <a:cs typeface="Lucida Sans Unicode"/>
              </a:rPr>
              <a:t>Review</a:t>
            </a:r>
            <a:r>
              <a:rPr dirty="0" sz="2450" spc="-170">
                <a:latin typeface="Lucida Sans Unicode"/>
                <a:cs typeface="Lucida Sans Unicode"/>
              </a:rPr>
              <a:t> </a:t>
            </a:r>
            <a:r>
              <a:rPr dirty="0" sz="2450" spc="-70">
                <a:solidFill>
                  <a:srgbClr val="0A0A0A"/>
                </a:solidFill>
                <a:latin typeface="Lucida Sans Unicode"/>
                <a:cs typeface="Lucida Sans Unicode"/>
              </a:rPr>
              <a:t>Rating</a:t>
            </a:r>
            <a:r>
              <a:rPr dirty="0" sz="2450" spc="-25">
                <a:solidFill>
                  <a:srgbClr val="0A0A0A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35">
                <a:latin typeface="Lucida Sans Unicode"/>
                <a:cs typeface="Lucida Sans Unicode"/>
              </a:rPr>
              <a:t>with</a:t>
            </a:r>
            <a:r>
              <a:rPr dirty="0" sz="2450" spc="-145">
                <a:latin typeface="Lucida Sans Unicode"/>
                <a:cs typeface="Lucida Sans Unicode"/>
              </a:rPr>
              <a:t> </a:t>
            </a:r>
            <a:r>
              <a:rPr dirty="0" sz="2450" spc="-110">
                <a:latin typeface="Lucida Sans Unicode"/>
                <a:cs typeface="Lucida Sans Unicode"/>
              </a:rPr>
              <a:t>median</a:t>
            </a:r>
            <a:r>
              <a:rPr dirty="0" sz="2450" spc="-80">
                <a:latin typeface="Lucida Sans Unicode"/>
                <a:cs typeface="Lucida Sans Unicode"/>
              </a:rPr>
              <a:t> </a:t>
            </a:r>
            <a:r>
              <a:rPr dirty="0" sz="2450">
                <a:latin typeface="Lucida Sans Unicode"/>
                <a:cs typeface="Lucida Sans Unicode"/>
              </a:rPr>
              <a:t>by</a:t>
            </a:r>
            <a:r>
              <a:rPr dirty="0" sz="2450" spc="-125">
                <a:latin typeface="Lucida Sans Unicode"/>
                <a:cs typeface="Lucida Sans Unicode"/>
              </a:rPr>
              <a:t> </a:t>
            </a:r>
            <a:r>
              <a:rPr dirty="0" sz="2450" spc="-30">
                <a:latin typeface="Lucida Sans Unicode"/>
                <a:cs typeface="Lucida Sans Unicode"/>
              </a:rPr>
              <a:t>category.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0126287" y="8750737"/>
            <a:ext cx="462280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50">
                <a:latin typeface="Courier New"/>
                <a:cs typeface="Courier New"/>
              </a:rPr>
              <a:t>04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0180885" y="9503244"/>
            <a:ext cx="7632700" cy="1089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latin typeface="Lucida Sans Unicode"/>
                <a:cs typeface="Lucida Sans Unicode"/>
              </a:rPr>
              <a:t>Database</a:t>
            </a:r>
            <a:r>
              <a:rPr dirty="0" sz="2900" spc="105">
                <a:latin typeface="Lucida Sans Unicode"/>
                <a:cs typeface="Lucida Sans Unicode"/>
              </a:rPr>
              <a:t> </a:t>
            </a:r>
            <a:r>
              <a:rPr dirty="0" sz="2900" spc="-10">
                <a:latin typeface="Lucida Sans Unicode"/>
                <a:cs typeface="Lucida Sans Unicode"/>
              </a:rPr>
              <a:t>Integration</a:t>
            </a:r>
            <a:endParaRPr sz="2900">
              <a:latin typeface="Lucida Sans Unicode"/>
              <a:cs typeface="Lucida Sans Unicode"/>
            </a:endParaRPr>
          </a:p>
          <a:p>
            <a:pPr marL="17780">
              <a:lnSpc>
                <a:spcPct val="100000"/>
              </a:lnSpc>
              <a:spcBef>
                <a:spcPts val="1950"/>
              </a:spcBef>
            </a:pPr>
            <a:r>
              <a:rPr dirty="0" sz="2450" spc="-30">
                <a:latin typeface="Lucida Sans Unicode"/>
                <a:cs typeface="Lucida Sans Unicode"/>
              </a:rPr>
              <a:t>Loaded</a:t>
            </a:r>
            <a:r>
              <a:rPr dirty="0" sz="2450" spc="-165">
                <a:latin typeface="Lucida Sans Unicode"/>
                <a:cs typeface="Lucida Sans Unicode"/>
              </a:rPr>
              <a:t> </a:t>
            </a:r>
            <a:r>
              <a:rPr dirty="0" sz="2450" spc="-35">
                <a:latin typeface="Lucida Sans Unicode"/>
                <a:cs typeface="Lucida Sans Unicode"/>
              </a:rPr>
              <a:t>cleaned</a:t>
            </a:r>
            <a:r>
              <a:rPr dirty="0" sz="2450" spc="-160">
                <a:latin typeface="Lucida Sans Unicode"/>
                <a:cs typeface="Lucida Sans Unicode"/>
              </a:rPr>
              <a:t> </a:t>
            </a:r>
            <a:r>
              <a:rPr dirty="0" sz="2450" spc="-90">
                <a:latin typeface="Lucida Sans Unicode"/>
                <a:cs typeface="Lucida Sans Unicode"/>
              </a:rPr>
              <a:t>data</a:t>
            </a:r>
            <a:r>
              <a:rPr dirty="0" sz="2450" spc="-105">
                <a:latin typeface="Lucida Sans Unicode"/>
                <a:cs typeface="Lucida Sans Unicode"/>
              </a:rPr>
              <a:t> </a:t>
            </a:r>
            <a:r>
              <a:rPr dirty="0" sz="2450" spc="-130">
                <a:latin typeface="Lucida Sans Unicode"/>
                <a:cs typeface="Lucida Sans Unicode"/>
              </a:rPr>
              <a:t>to</a:t>
            </a:r>
            <a:r>
              <a:rPr dirty="0" sz="2450" spc="-80">
                <a:latin typeface="Lucida Sans Unicode"/>
                <a:cs typeface="Lucida Sans Unicode"/>
              </a:rPr>
              <a:t> </a:t>
            </a:r>
            <a:r>
              <a:rPr dirty="0" sz="2450" spc="-35">
                <a:latin typeface="Lucida Sans Unicode"/>
                <a:cs typeface="Lucida Sans Unicode"/>
              </a:rPr>
              <a:t>PostgreSQL</a:t>
            </a:r>
            <a:r>
              <a:rPr dirty="0" sz="2450" spc="10">
                <a:latin typeface="Lucida Sans Unicode"/>
                <a:cs typeface="Lucida Sans Unicode"/>
              </a:rPr>
              <a:t> </a:t>
            </a:r>
            <a:r>
              <a:rPr dirty="0" sz="2450" spc="-45">
                <a:latin typeface="Lucida Sans Unicode"/>
                <a:cs typeface="Lucida Sans Unicode"/>
              </a:rPr>
              <a:t>for</a:t>
            </a:r>
            <a:r>
              <a:rPr dirty="0" sz="2450" spc="-110">
                <a:latin typeface="Lucida Sans Unicode"/>
                <a:cs typeface="Lucida Sans Unicode"/>
              </a:rPr>
              <a:t> </a:t>
            </a:r>
            <a:r>
              <a:rPr dirty="0" sz="2450">
                <a:latin typeface="Lucida Sans Unicode"/>
                <a:cs typeface="Lucida Sans Unicode"/>
              </a:rPr>
              <a:t>SQL</a:t>
            </a:r>
            <a:r>
              <a:rPr dirty="0" sz="2450" spc="-105">
                <a:latin typeface="Lucida Sans Unicode"/>
                <a:cs typeface="Lucida Sans Unicode"/>
              </a:rPr>
              <a:t> </a:t>
            </a:r>
            <a:r>
              <a:rPr dirty="0" sz="2450" spc="-20">
                <a:latin typeface="Lucida Sans Unicode"/>
                <a:cs typeface="Lucida Sans Unicode"/>
              </a:rPr>
              <a:t>analysis.</a:t>
            </a:r>
            <a:endParaRPr sz="2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205" y="6257404"/>
            <a:ext cx="5134921" cy="278106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5205" y="3685753"/>
            <a:ext cx="5134921" cy="22784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3051" y="3685753"/>
            <a:ext cx="5134921" cy="22784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5725" y="2471130"/>
            <a:ext cx="435588" cy="52773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31848" y="2471130"/>
            <a:ext cx="469095" cy="52773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59580" y="2596780"/>
            <a:ext cx="360198" cy="410458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86792" y="2596780"/>
            <a:ext cx="360198" cy="41883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78367" y="2613533"/>
            <a:ext cx="309938" cy="39370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56360" y="2387362"/>
            <a:ext cx="661759" cy="720397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85133" y="2462752"/>
            <a:ext cx="519355" cy="6114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379880" y="2378986"/>
            <a:ext cx="628253" cy="73715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565059" y="0"/>
            <a:ext cx="7539038" cy="1073894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566647" y="2247615"/>
            <a:ext cx="3901440" cy="9169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92400" algn="l"/>
              </a:tabLst>
            </a:pPr>
            <a:r>
              <a:rPr dirty="0" spc="-25">
                <a:solidFill>
                  <a:srgbClr val="0F0F0F"/>
                </a:solidFill>
              </a:rPr>
              <a:t>ata</a:t>
            </a:r>
            <a:r>
              <a:rPr dirty="0">
                <a:solidFill>
                  <a:srgbClr val="0F0F0F"/>
                </a:solidFill>
              </a:rPr>
              <a:t>	</a:t>
            </a:r>
            <a:r>
              <a:rPr dirty="0" spc="-20">
                <a:solidFill>
                  <a:srgbClr val="000000"/>
                </a:solidFill>
              </a:rPr>
              <a:t>lysi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1461535" y="3981595"/>
            <a:ext cx="3470910" cy="156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95"/>
              </a:spcBef>
            </a:pPr>
            <a:r>
              <a:rPr dirty="0" sz="2950" spc="-25">
                <a:latin typeface="Lucida Sans Unicode"/>
                <a:cs typeface="Lucida Sans Unicode"/>
              </a:rPr>
              <a:t>Revenue</a:t>
            </a:r>
            <a:r>
              <a:rPr dirty="0" sz="2950" spc="-145">
                <a:latin typeface="Lucida Sans Unicode"/>
                <a:cs typeface="Lucida Sans Unicode"/>
              </a:rPr>
              <a:t> </a:t>
            </a:r>
            <a:r>
              <a:rPr dirty="0" sz="2950">
                <a:latin typeface="Lucida Sans Unicode"/>
                <a:cs typeface="Lucida Sans Unicode"/>
              </a:rPr>
              <a:t>by</a:t>
            </a:r>
            <a:r>
              <a:rPr dirty="0" sz="2950" spc="-105">
                <a:latin typeface="Lucida Sans Unicode"/>
                <a:cs typeface="Lucida Sans Unicode"/>
              </a:rPr>
              <a:t> </a:t>
            </a:r>
            <a:r>
              <a:rPr dirty="0" sz="2950" spc="-10">
                <a:latin typeface="Lucida Sans Unicode"/>
                <a:cs typeface="Lucida Sans Unicode"/>
              </a:rPr>
              <a:t>Gender</a:t>
            </a:r>
            <a:endParaRPr sz="2950">
              <a:latin typeface="Lucida Sans Unicode"/>
              <a:cs typeface="Lucida Sans Unicode"/>
            </a:endParaRPr>
          </a:p>
          <a:p>
            <a:pPr marL="24765">
              <a:lnSpc>
                <a:spcPct val="100000"/>
              </a:lnSpc>
              <a:spcBef>
                <a:spcPts val="1825"/>
              </a:spcBef>
            </a:pPr>
            <a:r>
              <a:rPr dirty="0" sz="2500" spc="-114">
                <a:latin typeface="Lucida Sans Unicode"/>
                <a:cs typeface="Lucida Sans Unicode"/>
              </a:rPr>
              <a:t>Female:</a:t>
            </a:r>
            <a:r>
              <a:rPr dirty="0" sz="2500" spc="-60">
                <a:latin typeface="Lucida Sans Unicode"/>
                <a:cs typeface="Lucida Sans Unicode"/>
              </a:rPr>
              <a:t> </a:t>
            </a:r>
            <a:r>
              <a:rPr dirty="0" sz="2500" spc="-310">
                <a:latin typeface="Lucida Sans Unicode"/>
                <a:cs typeface="Lucida Sans Unicode"/>
              </a:rPr>
              <a:t>$75,191,</a:t>
            </a:r>
            <a:r>
              <a:rPr dirty="0" sz="2500" spc="110">
                <a:latin typeface="Lucida Sans Unicode"/>
                <a:cs typeface="Lucida Sans Unicode"/>
              </a:rPr>
              <a:t> </a:t>
            </a:r>
            <a:r>
              <a:rPr dirty="0" sz="2500" spc="-10">
                <a:latin typeface="Lucida Sans Unicode"/>
                <a:cs typeface="Lucida Sans Unicode"/>
              </a:rPr>
              <a:t>Male:</a:t>
            </a:r>
            <a:endParaRPr sz="25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500" spc="-270">
                <a:latin typeface="Lucida Sans Unicode"/>
                <a:cs typeface="Lucida Sans Unicode"/>
              </a:rPr>
              <a:t>$157,890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467370" y="6537889"/>
            <a:ext cx="4027170" cy="20802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8575">
              <a:lnSpc>
                <a:spcPts val="3620"/>
              </a:lnSpc>
              <a:spcBef>
                <a:spcPts val="114"/>
              </a:spcBef>
            </a:pPr>
            <a:r>
              <a:rPr dirty="0" sz="3150">
                <a:latin typeface="Calibri"/>
                <a:cs typeface="Calibri"/>
              </a:rPr>
              <a:t>Top</a:t>
            </a:r>
            <a:r>
              <a:rPr dirty="0" sz="3150" spc="229">
                <a:latin typeface="Calibri"/>
                <a:cs typeface="Calibri"/>
              </a:rPr>
              <a:t> </a:t>
            </a:r>
            <a:r>
              <a:rPr dirty="0" sz="3150">
                <a:solidFill>
                  <a:srgbClr val="111111"/>
                </a:solidFill>
                <a:latin typeface="Calibri"/>
                <a:cs typeface="Calibri"/>
              </a:rPr>
              <a:t>5</a:t>
            </a:r>
            <a:r>
              <a:rPr dirty="0" sz="3150" spc="15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150" spc="135">
                <a:latin typeface="Calibri"/>
                <a:cs typeface="Calibri"/>
              </a:rPr>
              <a:t>Products</a:t>
            </a:r>
            <a:r>
              <a:rPr dirty="0" sz="3150" spc="240">
                <a:latin typeface="Calibri"/>
                <a:cs typeface="Calibri"/>
              </a:rPr>
              <a:t> </a:t>
            </a:r>
            <a:r>
              <a:rPr dirty="0" sz="3150" spc="120">
                <a:latin typeface="Calibri"/>
                <a:cs typeface="Calibri"/>
              </a:rPr>
              <a:t>by</a:t>
            </a:r>
            <a:endParaRPr sz="3150">
              <a:latin typeface="Calibri"/>
              <a:cs typeface="Calibri"/>
            </a:endParaRPr>
          </a:p>
          <a:p>
            <a:pPr marL="12700">
              <a:lnSpc>
                <a:spcPts val="3860"/>
              </a:lnSpc>
            </a:pPr>
            <a:r>
              <a:rPr dirty="0" sz="3350" spc="-10">
                <a:latin typeface="Calibri"/>
                <a:cs typeface="Calibri"/>
              </a:rPr>
              <a:t>Rating</a:t>
            </a:r>
            <a:endParaRPr sz="3350">
              <a:latin typeface="Calibri"/>
              <a:cs typeface="Calibri"/>
            </a:endParaRPr>
          </a:p>
          <a:p>
            <a:pPr marL="24130" marR="5080" indent="-635">
              <a:lnSpc>
                <a:spcPct val="125000"/>
              </a:lnSpc>
              <a:spcBef>
                <a:spcPts val="1025"/>
              </a:spcBef>
            </a:pPr>
            <a:r>
              <a:rPr dirty="0" sz="2550" spc="-120">
                <a:latin typeface="Lucida Sans Unicode"/>
                <a:cs typeface="Lucida Sans Unicode"/>
              </a:rPr>
              <a:t>Gloves,</a:t>
            </a:r>
            <a:r>
              <a:rPr dirty="0" sz="2550" spc="-55">
                <a:latin typeface="Lucida Sans Unicode"/>
                <a:cs typeface="Lucida Sans Unicode"/>
              </a:rPr>
              <a:t> </a:t>
            </a:r>
            <a:r>
              <a:rPr dirty="0" sz="2550" spc="-120">
                <a:latin typeface="Lucida Sans Unicode"/>
                <a:cs typeface="Lucida Sans Unicode"/>
              </a:rPr>
              <a:t>Sandals,</a:t>
            </a:r>
            <a:r>
              <a:rPr dirty="0" sz="2550" spc="5">
                <a:latin typeface="Lucida Sans Unicode"/>
                <a:cs typeface="Lucida Sans Unicode"/>
              </a:rPr>
              <a:t> </a:t>
            </a:r>
            <a:r>
              <a:rPr dirty="0" sz="2550" spc="-120">
                <a:latin typeface="Lucida Sans Unicode"/>
                <a:cs typeface="Lucida Sans Unicode"/>
              </a:rPr>
              <a:t>Boots,</a:t>
            </a:r>
            <a:r>
              <a:rPr dirty="0" sz="2550" spc="-80">
                <a:latin typeface="Lucida Sans Unicode"/>
                <a:cs typeface="Lucida Sans Unicode"/>
              </a:rPr>
              <a:t> </a:t>
            </a:r>
            <a:r>
              <a:rPr dirty="0" sz="2550" spc="-95">
                <a:latin typeface="Lucida Sans Unicode"/>
                <a:cs typeface="Lucida Sans Unicode"/>
              </a:rPr>
              <a:t>Hat, </a:t>
            </a:r>
            <a:r>
              <a:rPr dirty="0" sz="2550" spc="-10">
                <a:latin typeface="Lucida Sans Unicode"/>
                <a:cs typeface="Lucida Sans Unicode"/>
              </a:rPr>
              <a:t>Skirt.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847562" y="3953673"/>
            <a:ext cx="3662045" cy="15970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140">
                <a:latin typeface="Calibri"/>
                <a:cs typeface="Calibri"/>
              </a:rPr>
              <a:t>High-</a:t>
            </a:r>
            <a:r>
              <a:rPr dirty="0" sz="3150" spc="145">
                <a:latin typeface="Calibri"/>
                <a:cs typeface="Calibri"/>
              </a:rPr>
              <a:t>Spending</a:t>
            </a:r>
            <a:endParaRPr sz="315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 sz="3000" spc="195">
                <a:latin typeface="Calibri"/>
                <a:cs typeface="Calibri"/>
              </a:rPr>
              <a:t>Discount</a:t>
            </a:r>
            <a:r>
              <a:rPr dirty="0" sz="3000" spc="260">
                <a:latin typeface="Calibri"/>
                <a:cs typeface="Calibri"/>
              </a:rPr>
              <a:t> </a:t>
            </a:r>
            <a:r>
              <a:rPr dirty="0" sz="3000" spc="185">
                <a:solidFill>
                  <a:srgbClr val="0C0C0C"/>
                </a:solidFill>
                <a:latin typeface="Calibri"/>
                <a:cs typeface="Calibri"/>
              </a:rPr>
              <a:t>Users</a:t>
            </a:r>
            <a:endParaRPr sz="3000">
              <a:latin typeface="Calibri"/>
              <a:cs typeface="Calibri"/>
            </a:endParaRPr>
          </a:p>
          <a:p>
            <a:pPr marL="16510">
              <a:lnSpc>
                <a:spcPct val="100000"/>
              </a:lnSpc>
              <a:spcBef>
                <a:spcPts val="1880"/>
              </a:spcBef>
            </a:pPr>
            <a:r>
              <a:rPr dirty="0" sz="2500" spc="-120">
                <a:latin typeface="Lucida Sans Unicode"/>
                <a:cs typeface="Lucida Sans Unicode"/>
              </a:rPr>
              <a:t>Identified</a:t>
            </a:r>
            <a:r>
              <a:rPr dirty="0" sz="2500" spc="5">
                <a:latin typeface="Lucida Sans Unicode"/>
                <a:cs typeface="Lucida Sans Unicode"/>
              </a:rPr>
              <a:t> </a:t>
            </a:r>
            <a:r>
              <a:rPr dirty="0" sz="2500" spc="-135">
                <a:latin typeface="Lucida Sans Unicode"/>
                <a:cs typeface="Lucida Sans Unicode"/>
              </a:rPr>
              <a:t>839</a:t>
            </a:r>
            <a:r>
              <a:rPr dirty="0" sz="2500" spc="-65">
                <a:latin typeface="Lucida Sans Unicode"/>
                <a:cs typeface="Lucida Sans Unicode"/>
              </a:rPr>
              <a:t> </a:t>
            </a:r>
            <a:r>
              <a:rPr dirty="0" sz="2500" spc="-95">
                <a:latin typeface="Lucida Sans Unicode"/>
                <a:cs typeface="Lucida Sans Unicode"/>
              </a:rPr>
              <a:t>customers.</a:t>
            </a:r>
            <a:endParaRPr sz="2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595" y="2655418"/>
            <a:ext cx="1382157" cy="62825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22236" y="2663794"/>
            <a:ext cx="510979" cy="54448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65059" y="1817746"/>
            <a:ext cx="2789444" cy="570454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845554" y="2412492"/>
            <a:ext cx="3258539" cy="414647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9911" y="5922335"/>
            <a:ext cx="33504" cy="4858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46841" y="2338363"/>
            <a:ext cx="7792720" cy="1982470"/>
          </a:xfrm>
          <a:prstGeom prst="rect"/>
        </p:spPr>
        <p:txBody>
          <a:bodyPr wrap="square" lIns="0" tIns="104775" rIns="0" bIns="0" rtlCol="0" vert="horz">
            <a:spAutoFit/>
          </a:bodyPr>
          <a:lstStyle/>
          <a:p>
            <a:pPr marL="12700" marR="5080" indent="1607820">
              <a:lnSpc>
                <a:spcPts val="7390"/>
              </a:lnSpc>
              <a:spcBef>
                <a:spcPts val="825"/>
              </a:spcBef>
            </a:pPr>
            <a:r>
              <a:rPr dirty="0" sz="6650">
                <a:solidFill>
                  <a:srgbClr val="0C0C0C"/>
                </a:solidFill>
                <a:latin typeface="Calibri"/>
                <a:cs typeface="Calibri"/>
              </a:rPr>
              <a:t>Insights:</a:t>
            </a:r>
            <a:r>
              <a:rPr dirty="0" sz="6650" spc="57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6650" spc="40">
                <a:solidFill>
                  <a:srgbClr val="000000"/>
                </a:solidFill>
                <a:latin typeface="Calibri"/>
                <a:cs typeface="Calibri"/>
              </a:rPr>
              <a:t>Shipping </a:t>
            </a:r>
            <a:r>
              <a:rPr dirty="0" sz="6650" spc="95">
                <a:solidFill>
                  <a:srgbClr val="000000"/>
                </a:solidFill>
                <a:latin typeface="Calibri"/>
                <a:cs typeface="Calibri"/>
              </a:rPr>
              <a:t>Subscriptions</a:t>
            </a:r>
            <a:endParaRPr sz="66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41249" y="5074756"/>
            <a:ext cx="476440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55">
                <a:latin typeface="Lucida Sans Unicode"/>
                <a:cs typeface="Lucida Sans Unicode"/>
              </a:rPr>
              <a:t>Shipping</a:t>
            </a:r>
            <a:r>
              <a:rPr dirty="0" sz="2950" spc="-170">
                <a:latin typeface="Lucida Sans Unicode"/>
                <a:cs typeface="Lucida Sans Unicode"/>
              </a:rPr>
              <a:t> </a:t>
            </a:r>
            <a:r>
              <a:rPr dirty="0" sz="2950" spc="-30">
                <a:latin typeface="Lucida Sans Unicode"/>
                <a:cs typeface="Lucida Sans Unicode"/>
              </a:rPr>
              <a:t>Type</a:t>
            </a:r>
            <a:r>
              <a:rPr dirty="0" sz="2950" spc="-195">
                <a:latin typeface="Lucida Sans Unicode"/>
                <a:cs typeface="Lucida Sans Unicode"/>
              </a:rPr>
              <a:t> </a:t>
            </a:r>
            <a:r>
              <a:rPr dirty="0" sz="2950" spc="-35">
                <a:latin typeface="Lucida Sans Unicode"/>
                <a:cs typeface="Lucida Sans Unicode"/>
              </a:rPr>
              <a:t>Comparison</a:t>
            </a:r>
            <a:endParaRPr sz="295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653643" y="5050464"/>
            <a:ext cx="3713479" cy="972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100"/>
              </a:spcBef>
            </a:pPr>
            <a:r>
              <a:rPr dirty="0" sz="2950">
                <a:latin typeface="Lucida Sans Unicode"/>
                <a:cs typeface="Lucida Sans Unicode"/>
              </a:rPr>
              <a:t>Subscribers</a:t>
            </a:r>
            <a:r>
              <a:rPr dirty="0" sz="2950" spc="-50">
                <a:latin typeface="Lucida Sans Unicode"/>
                <a:cs typeface="Lucida Sans Unicode"/>
              </a:rPr>
              <a:t> </a:t>
            </a:r>
            <a:r>
              <a:rPr dirty="0" sz="2950" spc="-130">
                <a:latin typeface="Lucida Sans Unicode"/>
                <a:cs typeface="Lucida Sans Unicode"/>
              </a:rPr>
              <a:t>vs.</a:t>
            </a:r>
            <a:r>
              <a:rPr dirty="0" sz="2950" spc="-275">
                <a:latin typeface="Lucida Sans Unicode"/>
                <a:cs typeface="Lucida Sans Unicode"/>
              </a:rPr>
              <a:t> </a:t>
            </a:r>
            <a:r>
              <a:rPr dirty="0" sz="2950" spc="-60">
                <a:solidFill>
                  <a:srgbClr val="0C0C0C"/>
                </a:solidFill>
                <a:latin typeface="Lucida Sans Unicode"/>
                <a:cs typeface="Lucida Sans Unicode"/>
              </a:rPr>
              <a:t>Non- </a:t>
            </a:r>
            <a:r>
              <a:rPr dirty="0" sz="2950" spc="-10">
                <a:latin typeface="Lucida Sans Unicode"/>
                <a:cs typeface="Lucida Sans Unicode"/>
              </a:rPr>
              <a:t>Subscribers</a:t>
            </a:r>
            <a:endParaRPr sz="295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25946" y="5776447"/>
            <a:ext cx="3881120" cy="99758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925"/>
              </a:spcBef>
            </a:pPr>
            <a:r>
              <a:rPr dirty="0" sz="2500" spc="-110">
                <a:latin typeface="Lucida Sans Unicode"/>
                <a:cs typeface="Lucida Sans Unicode"/>
              </a:rPr>
              <a:t>Standard:</a:t>
            </a:r>
            <a:r>
              <a:rPr dirty="0" sz="2500" spc="-80">
                <a:latin typeface="Lucida Sans Unicode"/>
                <a:cs typeface="Lucida Sans Unicode"/>
              </a:rPr>
              <a:t> </a:t>
            </a:r>
            <a:r>
              <a:rPr dirty="0" sz="2500" spc="-125">
                <a:latin typeface="Lucida Sans Unicode"/>
                <a:cs typeface="Lucida Sans Unicode"/>
              </a:rPr>
              <a:t>$58.46,</a:t>
            </a:r>
            <a:r>
              <a:rPr dirty="0" sz="2500" spc="10">
                <a:latin typeface="Lucida Sans Unicode"/>
                <a:cs typeface="Lucida Sans Unicode"/>
              </a:rPr>
              <a:t> </a:t>
            </a:r>
            <a:r>
              <a:rPr dirty="0" sz="2500" spc="-80">
                <a:latin typeface="Lucida Sans Unicode"/>
                <a:cs typeface="Lucida Sans Unicode"/>
              </a:rPr>
              <a:t>Express:</a:t>
            </a:r>
            <a:endParaRPr sz="25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2500" spc="-10">
                <a:latin typeface="Lucida Sans Unicode"/>
                <a:cs typeface="Lucida Sans Unicode"/>
              </a:rPr>
              <a:t>$60.48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638340" y="6279047"/>
            <a:ext cx="4464685" cy="96393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790"/>
              </a:spcBef>
            </a:pPr>
            <a:r>
              <a:rPr dirty="0" sz="2500" spc="-85">
                <a:latin typeface="Lucida Sans Unicode"/>
                <a:cs typeface="Lucida Sans Unicode"/>
              </a:rPr>
              <a:t>Subscribers:</a:t>
            </a:r>
            <a:r>
              <a:rPr dirty="0" sz="2500" spc="-229">
                <a:latin typeface="Lucida Sans Unicode"/>
                <a:cs typeface="Lucida Sans Unicode"/>
              </a:rPr>
              <a:t> </a:t>
            </a:r>
            <a:r>
              <a:rPr dirty="0" sz="2500" spc="-190">
                <a:latin typeface="Lucida Sans Unicode"/>
                <a:cs typeface="Lucida Sans Unicode"/>
              </a:rPr>
              <a:t>1,053,</a:t>
            </a:r>
            <a:r>
              <a:rPr dirty="0" sz="2500" spc="100">
                <a:latin typeface="Lucida Sans Unicode"/>
                <a:cs typeface="Lucida Sans Unicode"/>
              </a:rPr>
              <a:t> </a:t>
            </a:r>
            <a:r>
              <a:rPr dirty="0" sz="2500" spc="-175">
                <a:latin typeface="Lucida Sans Unicode"/>
                <a:cs typeface="Lucida Sans Unicode"/>
              </a:rPr>
              <a:t>Avg</a:t>
            </a:r>
            <a:r>
              <a:rPr dirty="0" sz="2500" spc="-30">
                <a:latin typeface="Lucida Sans Unicode"/>
                <a:cs typeface="Lucida Sans Unicode"/>
              </a:rPr>
              <a:t> </a:t>
            </a:r>
            <a:r>
              <a:rPr dirty="0" sz="2500" spc="-35">
                <a:latin typeface="Lucida Sans Unicode"/>
                <a:cs typeface="Lucida Sans Unicode"/>
              </a:rPr>
              <a:t>Spend:</a:t>
            </a:r>
            <a:endParaRPr sz="25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2500" spc="-10">
                <a:latin typeface="Lucida Sans Unicode"/>
                <a:cs typeface="Lucida Sans Unicode"/>
              </a:rPr>
              <a:t>$59.49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650602" y="7485295"/>
            <a:ext cx="4114165" cy="997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27499"/>
              </a:lnSpc>
              <a:spcBef>
                <a:spcPts val="100"/>
              </a:spcBef>
            </a:pPr>
            <a:r>
              <a:rPr dirty="0" sz="2500" spc="-110">
                <a:latin typeface="Lucida Sans Unicode"/>
                <a:cs typeface="Lucida Sans Unicode"/>
              </a:rPr>
              <a:t>Non-</a:t>
            </a:r>
            <a:r>
              <a:rPr dirty="0" sz="2500" spc="-85">
                <a:latin typeface="Lucida Sans Unicode"/>
                <a:cs typeface="Lucida Sans Unicode"/>
              </a:rPr>
              <a:t>Subscribers:</a:t>
            </a:r>
            <a:r>
              <a:rPr dirty="0" sz="2500" spc="-225">
                <a:latin typeface="Lucida Sans Unicode"/>
                <a:cs typeface="Lucida Sans Unicode"/>
              </a:rPr>
              <a:t> </a:t>
            </a:r>
            <a:r>
              <a:rPr dirty="0" sz="2500" spc="-195">
                <a:latin typeface="Lucida Sans Unicode"/>
                <a:cs typeface="Lucida Sans Unicode"/>
              </a:rPr>
              <a:t>2,847,</a:t>
            </a:r>
            <a:r>
              <a:rPr dirty="0" sz="2500" spc="125">
                <a:latin typeface="Lucida Sans Unicode"/>
                <a:cs typeface="Lucida Sans Unicode"/>
              </a:rPr>
              <a:t> </a:t>
            </a:r>
            <a:r>
              <a:rPr dirty="0" sz="2500" spc="-130">
                <a:latin typeface="Lucida Sans Unicode"/>
                <a:cs typeface="Lucida Sans Unicode"/>
              </a:rPr>
              <a:t>Avg </a:t>
            </a:r>
            <a:r>
              <a:rPr dirty="0" sz="2500" spc="-80">
                <a:latin typeface="Lucida Sans Unicode"/>
                <a:cs typeface="Lucida Sans Unicode"/>
              </a:rPr>
              <a:t>Spend:</a:t>
            </a:r>
            <a:r>
              <a:rPr dirty="0" sz="2500" spc="-155">
                <a:latin typeface="Lucida Sans Unicode"/>
                <a:cs typeface="Lucida Sans Unicode"/>
              </a:rPr>
              <a:t> </a:t>
            </a:r>
            <a:r>
              <a:rPr dirty="0" sz="2500" spc="-10">
                <a:latin typeface="Lucida Sans Unicode"/>
                <a:cs typeface="Lucida Sans Unicode"/>
              </a:rPr>
              <a:t>$59.87</a:t>
            </a:r>
            <a:endParaRPr sz="2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8650" y="6575719"/>
            <a:ext cx="921437" cy="92143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46893" y="6575719"/>
            <a:ext cx="921437" cy="92143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45132" y="6575719"/>
            <a:ext cx="921437" cy="92143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0595" y="5067911"/>
            <a:ext cx="1382157" cy="62825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47885" y="5076287"/>
            <a:ext cx="510979" cy="54448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4163" y="1583197"/>
            <a:ext cx="477472" cy="42721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68005" y="2462752"/>
            <a:ext cx="226171" cy="130676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554896" y="0"/>
            <a:ext cx="11208031" cy="376952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206901" y="2655418"/>
            <a:ext cx="1432416" cy="427212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119957" y="0"/>
            <a:ext cx="896307" cy="1901513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644518" y="0"/>
            <a:ext cx="3091006" cy="376952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656132" y="4762026"/>
            <a:ext cx="6330950" cy="10306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600">
                <a:solidFill>
                  <a:srgbClr val="0C0C0C"/>
                </a:solidFill>
                <a:latin typeface="Calibri"/>
                <a:cs typeface="Calibri"/>
              </a:rPr>
              <a:t>Insights:</a:t>
            </a:r>
            <a:r>
              <a:rPr dirty="0" sz="6600" spc="46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6600" spc="130">
                <a:solidFill>
                  <a:srgbClr val="111111"/>
                </a:solidFill>
                <a:latin typeface="Calibri"/>
                <a:cs typeface="Calibri"/>
              </a:rPr>
              <a:t>Products</a:t>
            </a:r>
            <a:endParaRPr sz="66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960045" y="4762026"/>
            <a:ext cx="3521710" cy="1030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600" spc="114">
                <a:solidFill>
                  <a:srgbClr val="0E0E0E"/>
                </a:solidFill>
                <a:latin typeface="Calibri"/>
                <a:cs typeface="Calibri"/>
              </a:rPr>
              <a:t>Segments</a:t>
            </a:r>
            <a:endParaRPr sz="66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35218" y="7721798"/>
            <a:ext cx="4250055" cy="20929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10"/>
              </a:spcBef>
            </a:pPr>
            <a:r>
              <a:rPr dirty="0" sz="3200" spc="145">
                <a:latin typeface="Calibri"/>
                <a:cs typeface="Calibri"/>
              </a:rPr>
              <a:t>Discount-</a:t>
            </a:r>
            <a:r>
              <a:rPr dirty="0" sz="3200" spc="160">
                <a:latin typeface="Calibri"/>
                <a:cs typeface="Calibri"/>
              </a:rPr>
              <a:t>Dependent</a:t>
            </a:r>
            <a:endParaRPr sz="3200">
              <a:latin typeface="Calibri"/>
              <a:cs typeface="Calibri"/>
            </a:endParaRPr>
          </a:p>
          <a:p>
            <a:pPr marL="13335">
              <a:lnSpc>
                <a:spcPts val="3695"/>
              </a:lnSpc>
            </a:pPr>
            <a:r>
              <a:rPr dirty="0" sz="3100" spc="150">
                <a:latin typeface="Calibri"/>
                <a:cs typeface="Calibri"/>
              </a:rPr>
              <a:t>Products</a:t>
            </a:r>
            <a:endParaRPr sz="3100">
              <a:latin typeface="Calibri"/>
              <a:cs typeface="Calibri"/>
            </a:endParaRPr>
          </a:p>
          <a:p>
            <a:pPr marL="15875">
              <a:lnSpc>
                <a:spcPct val="100000"/>
              </a:lnSpc>
              <a:spcBef>
                <a:spcPts val="1760"/>
              </a:spcBef>
            </a:pPr>
            <a:r>
              <a:rPr dirty="0" sz="2600" spc="-180">
                <a:latin typeface="Lucida Sans Unicode"/>
                <a:cs typeface="Lucida Sans Unicode"/>
              </a:rPr>
              <a:t>Hat,</a:t>
            </a:r>
            <a:r>
              <a:rPr dirty="0" sz="2600" spc="-75">
                <a:latin typeface="Lucida Sans Unicode"/>
                <a:cs typeface="Lucida Sans Unicode"/>
              </a:rPr>
              <a:t> </a:t>
            </a:r>
            <a:r>
              <a:rPr dirty="0" sz="2600" spc="-135">
                <a:latin typeface="Lucida Sans Unicode"/>
                <a:cs typeface="Lucida Sans Unicode"/>
              </a:rPr>
              <a:t>Sneakers,</a:t>
            </a:r>
            <a:r>
              <a:rPr dirty="0" sz="2600" spc="20">
                <a:latin typeface="Lucida Sans Unicode"/>
                <a:cs typeface="Lucida Sans Unicode"/>
              </a:rPr>
              <a:t> </a:t>
            </a:r>
            <a:r>
              <a:rPr dirty="0" sz="2600" spc="-165">
                <a:latin typeface="Lucida Sans Unicode"/>
                <a:cs typeface="Lucida Sans Unicode"/>
              </a:rPr>
              <a:t>Coat,</a:t>
            </a:r>
            <a:r>
              <a:rPr dirty="0" sz="2600" spc="-35">
                <a:latin typeface="Lucida Sans Unicode"/>
                <a:cs typeface="Lucida Sans Unicode"/>
              </a:rPr>
              <a:t> </a:t>
            </a:r>
            <a:r>
              <a:rPr dirty="0" sz="2600" spc="-110">
                <a:latin typeface="Lucida Sans Unicode"/>
                <a:cs typeface="Lucida Sans Unicode"/>
              </a:rPr>
              <a:t>Sweater,</a:t>
            </a:r>
            <a:endParaRPr sz="2600">
              <a:latin typeface="Lucida Sans Unicode"/>
              <a:cs typeface="Lucida Sans Unicode"/>
            </a:endParaRPr>
          </a:p>
          <a:p>
            <a:pPr marL="14604">
              <a:lnSpc>
                <a:spcPct val="100000"/>
              </a:lnSpc>
              <a:spcBef>
                <a:spcPts val="685"/>
              </a:spcBef>
            </a:pPr>
            <a:r>
              <a:rPr dirty="0" sz="2650" spc="-10">
                <a:latin typeface="Lucida Sans Unicode"/>
                <a:cs typeface="Lucida Sans Unicode"/>
              </a:rPr>
              <a:t>Pants.</a:t>
            </a:r>
            <a:endParaRPr sz="2650">
              <a:latin typeface="Lucida Sans Unicode"/>
              <a:cs typeface="Lucida Sans Unicod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438533" y="7760889"/>
            <a:ext cx="4825365" cy="1575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latin typeface="Lucida Sans Unicode"/>
                <a:cs typeface="Lucida Sans Unicode"/>
              </a:rPr>
              <a:t>Customer</a:t>
            </a:r>
            <a:r>
              <a:rPr dirty="0" sz="2900" spc="-180">
                <a:latin typeface="Lucida Sans Unicode"/>
                <a:cs typeface="Lucida Sans Unicode"/>
              </a:rPr>
              <a:t> </a:t>
            </a:r>
            <a:r>
              <a:rPr dirty="0" sz="2900" spc="-10">
                <a:latin typeface="Lucida Sans Unicode"/>
                <a:cs typeface="Lucida Sans Unicode"/>
              </a:rPr>
              <a:t>Segmentation</a:t>
            </a:r>
            <a:endParaRPr sz="2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950"/>
              </a:spcBef>
            </a:pPr>
            <a:r>
              <a:rPr dirty="0" sz="2450" spc="-20">
                <a:latin typeface="Lucida Sans Unicode"/>
                <a:cs typeface="Lucida Sans Unicode"/>
              </a:rPr>
              <a:t>Loyal</a:t>
            </a:r>
            <a:r>
              <a:rPr dirty="0" sz="2450" spc="-185">
                <a:latin typeface="Lucida Sans Unicode"/>
                <a:cs typeface="Lucida Sans Unicode"/>
              </a:rPr>
              <a:t> </a:t>
            </a:r>
            <a:r>
              <a:rPr dirty="0" sz="2450" spc="-235">
                <a:latin typeface="Lucida Sans Unicode"/>
                <a:cs typeface="Lucida Sans Unicode"/>
              </a:rPr>
              <a:t>(3116),</a:t>
            </a:r>
            <a:r>
              <a:rPr dirty="0" sz="2450" spc="45">
                <a:latin typeface="Lucida Sans Unicode"/>
                <a:cs typeface="Lucida Sans Unicode"/>
              </a:rPr>
              <a:t> </a:t>
            </a:r>
            <a:r>
              <a:rPr dirty="0" sz="2450" spc="-90">
                <a:latin typeface="Lucida Sans Unicode"/>
                <a:cs typeface="Lucida Sans Unicode"/>
              </a:rPr>
              <a:t>Returning</a:t>
            </a:r>
            <a:r>
              <a:rPr dirty="0" sz="2450" spc="15">
                <a:latin typeface="Lucida Sans Unicode"/>
                <a:cs typeface="Lucida Sans Unicode"/>
              </a:rPr>
              <a:t> </a:t>
            </a:r>
            <a:r>
              <a:rPr dirty="0" sz="2450" spc="-190">
                <a:latin typeface="Lucida Sans Unicode"/>
                <a:cs typeface="Lucida Sans Unicode"/>
              </a:rPr>
              <a:t>(701),</a:t>
            </a:r>
            <a:r>
              <a:rPr dirty="0" sz="2450">
                <a:latin typeface="Lucida Sans Unicode"/>
                <a:cs typeface="Lucida Sans Unicode"/>
              </a:rPr>
              <a:t> </a:t>
            </a:r>
            <a:r>
              <a:rPr dirty="0" sz="2450" spc="-25">
                <a:latin typeface="Lucida Sans Unicode"/>
                <a:cs typeface="Lucida Sans Unicode"/>
              </a:rPr>
              <a:t>New</a:t>
            </a:r>
            <a:endParaRPr sz="2450">
              <a:latin typeface="Lucida Sans Unicode"/>
              <a:cs typeface="Lucida Sans Unicode"/>
            </a:endParaRPr>
          </a:p>
          <a:p>
            <a:pPr marL="31115">
              <a:lnSpc>
                <a:spcPct val="100000"/>
              </a:lnSpc>
              <a:spcBef>
                <a:spcPts val="885"/>
              </a:spcBef>
            </a:pPr>
            <a:r>
              <a:rPr dirty="0" sz="2450" spc="-10">
                <a:latin typeface="Lucida Sans Unicode"/>
                <a:cs typeface="Lucida Sans Unicode"/>
              </a:rPr>
              <a:t>(83).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546202" y="7436080"/>
            <a:ext cx="5087620" cy="1416050"/>
          </a:xfrm>
          <a:prstGeom prst="rect">
            <a:avLst/>
          </a:prstGeom>
        </p:spPr>
        <p:txBody>
          <a:bodyPr wrap="square" lIns="0" tIns="299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60"/>
              </a:spcBef>
              <a:tabLst>
                <a:tab pos="1061720" algn="l"/>
              </a:tabLst>
            </a:pPr>
            <a:r>
              <a:rPr dirty="0" sz="3200" spc="-25">
                <a:solidFill>
                  <a:srgbClr val="0A0A0A"/>
                </a:solidFill>
                <a:latin typeface="Calibri"/>
                <a:cs typeface="Calibri"/>
              </a:rPr>
              <a:t>Top</a:t>
            </a:r>
            <a:r>
              <a:rPr dirty="0" sz="3200">
                <a:solidFill>
                  <a:srgbClr val="0A0A0A"/>
                </a:solidFill>
                <a:latin typeface="Calibri"/>
                <a:cs typeface="Calibri"/>
              </a:rPr>
              <a:t>	</a:t>
            </a:r>
            <a:r>
              <a:rPr dirty="0" sz="3200" spc="125">
                <a:latin typeface="Calibri"/>
                <a:cs typeface="Calibri"/>
              </a:rPr>
              <a:t>Products</a:t>
            </a:r>
            <a:r>
              <a:rPr dirty="0" sz="3200" spc="130">
                <a:latin typeface="Calibri"/>
                <a:cs typeface="Calibri"/>
              </a:rPr>
              <a:t> </a:t>
            </a:r>
            <a:r>
              <a:rPr dirty="0" sz="3200" spc="95">
                <a:solidFill>
                  <a:srgbClr val="0C0C0C"/>
                </a:solidFill>
                <a:latin typeface="Calibri"/>
                <a:cs typeface="Calibri"/>
              </a:rPr>
              <a:t>per</a:t>
            </a:r>
            <a:r>
              <a:rPr dirty="0" sz="3200" spc="13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3200" spc="100">
                <a:latin typeface="Calibri"/>
                <a:cs typeface="Calibri"/>
              </a:rPr>
              <a:t>Category</a:t>
            </a:r>
            <a:endParaRPr sz="3200">
              <a:latin typeface="Calibri"/>
              <a:cs typeface="Calibri"/>
            </a:endParaRPr>
          </a:p>
          <a:p>
            <a:pPr marL="22860">
              <a:lnSpc>
                <a:spcPct val="100000"/>
              </a:lnSpc>
              <a:spcBef>
                <a:spcPts val="1790"/>
              </a:spcBef>
            </a:pPr>
            <a:r>
              <a:rPr dirty="0" sz="2550" spc="65">
                <a:latin typeface="Calibri"/>
                <a:cs typeface="Calibri"/>
              </a:rPr>
              <a:t>Jewelry,</a:t>
            </a:r>
            <a:r>
              <a:rPr dirty="0" sz="2550" spc="280">
                <a:latin typeface="Calibri"/>
                <a:cs typeface="Calibri"/>
              </a:rPr>
              <a:t> </a:t>
            </a:r>
            <a:r>
              <a:rPr dirty="0" sz="2550" spc="70">
                <a:latin typeface="Calibri"/>
                <a:cs typeface="Calibri"/>
              </a:rPr>
              <a:t>Blouse,</a:t>
            </a:r>
            <a:r>
              <a:rPr dirty="0" sz="2550" spc="250">
                <a:latin typeface="Calibri"/>
                <a:cs typeface="Calibri"/>
              </a:rPr>
              <a:t> </a:t>
            </a:r>
            <a:r>
              <a:rPr dirty="0" sz="2550" spc="90">
                <a:solidFill>
                  <a:srgbClr val="0A0A0A"/>
                </a:solidFill>
                <a:latin typeface="Calibri"/>
                <a:cs typeface="Calibri"/>
              </a:rPr>
              <a:t>Sandals,</a:t>
            </a:r>
            <a:r>
              <a:rPr dirty="0" sz="2550" spc="385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2550" spc="114">
                <a:latin typeface="Calibri"/>
                <a:cs typeface="Calibri"/>
              </a:rPr>
              <a:t>Jacket.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8972" y="4975767"/>
            <a:ext cx="376951" cy="54448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2938" y="4975767"/>
            <a:ext cx="510979" cy="6115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27684" y="4975767"/>
            <a:ext cx="335068" cy="54448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15095" y="5126547"/>
            <a:ext cx="351821" cy="38532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33930" y="5118171"/>
            <a:ext cx="326691" cy="41045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11922" y="5118171"/>
            <a:ext cx="376951" cy="56961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55888" y="4959013"/>
            <a:ext cx="368575" cy="56123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83100" y="5034404"/>
            <a:ext cx="242924" cy="47747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093038" y="5126547"/>
            <a:ext cx="318314" cy="39370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18120" y="5118171"/>
            <a:ext cx="402081" cy="56961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87216" y="5118171"/>
            <a:ext cx="368575" cy="40208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544242" y="4975767"/>
            <a:ext cx="393705" cy="544486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004961" y="5134924"/>
            <a:ext cx="351821" cy="385328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132645" y="4975767"/>
            <a:ext cx="510979" cy="544486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173387" y="0"/>
            <a:ext cx="628253" cy="3777897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5379633" y="2144438"/>
            <a:ext cx="502602" cy="15078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186973" y="125650"/>
            <a:ext cx="427212" cy="1398911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552377" y="8376"/>
            <a:ext cx="3208279" cy="3493089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739183" y="1834499"/>
            <a:ext cx="10454131" cy="3853288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1033657" y="6427596"/>
            <a:ext cx="5484495" cy="5149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056255" algn="l"/>
              </a:tabLst>
            </a:pPr>
            <a:r>
              <a:rPr dirty="0" sz="3200" spc="85">
                <a:latin typeface="Calibri"/>
                <a:cs typeface="Calibri"/>
              </a:rPr>
              <a:t>Repeat</a:t>
            </a:r>
            <a:r>
              <a:rPr dirty="0" sz="3200" spc="135">
                <a:latin typeface="Calibri"/>
                <a:cs typeface="Calibri"/>
              </a:rPr>
              <a:t> </a:t>
            </a:r>
            <a:r>
              <a:rPr dirty="0" sz="3200" spc="70">
                <a:latin typeface="Calibri"/>
                <a:cs typeface="Calibri"/>
              </a:rPr>
              <a:t>Buyers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105">
                <a:latin typeface="Calibri"/>
                <a:cs typeface="Calibri"/>
              </a:rPr>
              <a:t>Subscriptions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34421" y="7259682"/>
            <a:ext cx="5007610" cy="421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spc="-225">
                <a:latin typeface="Lucida Sans Unicode"/>
                <a:cs typeface="Lucida Sans Unicode"/>
              </a:rPr>
              <a:t>958</a:t>
            </a:r>
            <a:r>
              <a:rPr dirty="0" sz="2600" spc="-120">
                <a:latin typeface="Lucida Sans Unicode"/>
                <a:cs typeface="Lucida Sans Unicode"/>
              </a:rPr>
              <a:t> </a:t>
            </a:r>
            <a:r>
              <a:rPr dirty="0" sz="2600" spc="-170">
                <a:latin typeface="Lucida Sans Unicode"/>
                <a:cs typeface="Lucida Sans Unicode"/>
              </a:rPr>
              <a:t>repeat</a:t>
            </a:r>
            <a:r>
              <a:rPr dirty="0" sz="2600" spc="-70">
                <a:latin typeface="Lucida Sans Unicode"/>
                <a:cs typeface="Lucida Sans Unicode"/>
              </a:rPr>
              <a:t> </a:t>
            </a:r>
            <a:r>
              <a:rPr dirty="0" sz="2600" spc="-145">
                <a:latin typeface="Lucida Sans Unicode"/>
                <a:cs typeface="Lucida Sans Unicode"/>
              </a:rPr>
              <a:t>buyers</a:t>
            </a:r>
            <a:r>
              <a:rPr dirty="0" sz="2600" spc="-40">
                <a:latin typeface="Lucida Sans Unicode"/>
                <a:cs typeface="Lucida Sans Unicode"/>
              </a:rPr>
              <a:t> </a:t>
            </a:r>
            <a:r>
              <a:rPr dirty="0" sz="2600" spc="-135">
                <a:latin typeface="Lucida Sans Unicode"/>
                <a:cs typeface="Lucida Sans Unicode"/>
              </a:rPr>
              <a:t>are</a:t>
            </a:r>
            <a:r>
              <a:rPr dirty="0" sz="2600" spc="-240">
                <a:latin typeface="Lucida Sans Unicode"/>
                <a:cs typeface="Lucida Sans Unicode"/>
              </a:rPr>
              <a:t> </a:t>
            </a:r>
            <a:r>
              <a:rPr dirty="0" sz="2600" spc="-114">
                <a:latin typeface="Lucida Sans Unicode"/>
                <a:cs typeface="Lucida Sans Unicode"/>
              </a:rPr>
              <a:t>subscribers.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049552" y="8013586"/>
            <a:ext cx="5657215" cy="421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>
                <a:latin typeface="Calibri"/>
                <a:cs typeface="Calibri"/>
              </a:rPr>
              <a:t>2518</a:t>
            </a:r>
            <a:r>
              <a:rPr dirty="0" sz="2600" spc="1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repeat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 spc="65">
                <a:latin typeface="Calibri"/>
                <a:cs typeface="Calibri"/>
              </a:rPr>
              <a:t>buyers</a:t>
            </a:r>
            <a:r>
              <a:rPr dirty="0" sz="2600" spc="1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 spc="65">
                <a:latin typeface="Calibri"/>
                <a:cs typeface="Calibri"/>
              </a:rPr>
              <a:t>subscribers.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0415102" y="6426200"/>
            <a:ext cx="4038600" cy="5213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50">
                <a:latin typeface="Calibri"/>
                <a:cs typeface="Calibri"/>
              </a:rPr>
              <a:t>Revenue</a:t>
            </a:r>
            <a:r>
              <a:rPr dirty="0" sz="3250" spc="165">
                <a:latin typeface="Calibri"/>
                <a:cs typeface="Calibri"/>
              </a:rPr>
              <a:t> </a:t>
            </a:r>
            <a:r>
              <a:rPr dirty="0" sz="3250" spc="140">
                <a:latin typeface="Calibri"/>
                <a:cs typeface="Calibri"/>
              </a:rPr>
              <a:t>by</a:t>
            </a:r>
            <a:r>
              <a:rPr dirty="0" sz="3250" spc="175">
                <a:latin typeface="Calibri"/>
                <a:cs typeface="Calibri"/>
              </a:rPr>
              <a:t> </a:t>
            </a:r>
            <a:r>
              <a:rPr dirty="0" sz="3250" spc="80">
                <a:latin typeface="Calibri"/>
                <a:cs typeface="Calibri"/>
              </a:rPr>
              <a:t>Age</a:t>
            </a:r>
            <a:r>
              <a:rPr dirty="0" sz="3250" spc="85">
                <a:latin typeface="Calibri"/>
                <a:cs typeface="Calibri"/>
              </a:rPr>
              <a:t> </a:t>
            </a:r>
            <a:r>
              <a:rPr dirty="0" sz="3250" spc="-10">
                <a:latin typeface="Calibri"/>
                <a:cs typeface="Calibri"/>
              </a:rPr>
              <a:t>Group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0438883" y="7282020"/>
            <a:ext cx="3028950" cy="3943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400" spc="-95">
                <a:latin typeface="Lucida Sans Unicode"/>
                <a:cs typeface="Lucida Sans Unicode"/>
              </a:rPr>
              <a:t>Young</a:t>
            </a:r>
            <a:r>
              <a:rPr dirty="0" sz="2400" spc="-50">
                <a:latin typeface="Lucida Sans Unicode"/>
                <a:cs typeface="Lucida Sans Unicode"/>
              </a:rPr>
              <a:t> </a:t>
            </a:r>
            <a:r>
              <a:rPr dirty="0" sz="2400" spc="-114">
                <a:latin typeface="Lucida Sans Unicode"/>
                <a:cs typeface="Lucida Sans Unicode"/>
              </a:rPr>
              <a:t>Adult:</a:t>
            </a:r>
            <a:r>
              <a:rPr dirty="0" sz="2400" spc="-95">
                <a:latin typeface="Lucida Sans Unicode"/>
                <a:cs typeface="Lucida Sans Unicode"/>
              </a:rPr>
              <a:t> </a:t>
            </a:r>
            <a:r>
              <a:rPr dirty="0" sz="2400" spc="-125">
                <a:latin typeface="Lucida Sans Unicode"/>
                <a:cs typeface="Lucida Sans Unicode"/>
              </a:rPr>
              <a:t>$62,143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0420641" y="8030340"/>
            <a:ext cx="3073400" cy="4006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50" spc="-120">
                <a:latin typeface="Lucida Sans Unicode"/>
                <a:cs typeface="Lucida Sans Unicode"/>
              </a:rPr>
              <a:t>Middle-</a:t>
            </a:r>
            <a:r>
              <a:rPr dirty="0" sz="2450" spc="-70">
                <a:latin typeface="Lucida Sans Unicode"/>
                <a:cs typeface="Lucida Sans Unicode"/>
              </a:rPr>
              <a:t>aged:</a:t>
            </a:r>
            <a:r>
              <a:rPr dirty="0" sz="2450" spc="-60">
                <a:latin typeface="Lucida Sans Unicode"/>
                <a:cs typeface="Lucida Sans Unicode"/>
              </a:rPr>
              <a:t> </a:t>
            </a:r>
            <a:r>
              <a:rPr dirty="0" sz="2450" spc="-220">
                <a:latin typeface="Lucida Sans Unicode"/>
                <a:cs typeface="Lucida Sans Unicode"/>
              </a:rPr>
              <a:t>$59,197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0426162" y="8789830"/>
            <a:ext cx="2266315" cy="11493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14"/>
              </a:spcBef>
            </a:pPr>
            <a:r>
              <a:rPr dirty="0" sz="2400" spc="-114">
                <a:latin typeface="Lucida Sans Unicode"/>
                <a:cs typeface="Lucida Sans Unicode"/>
              </a:rPr>
              <a:t>Adult:</a:t>
            </a:r>
            <a:r>
              <a:rPr dirty="0" sz="2400" spc="-6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$55,978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010"/>
              </a:spcBef>
            </a:pPr>
            <a:r>
              <a:rPr dirty="0" sz="2450" spc="-65">
                <a:latin typeface="Lucida Sans Unicode"/>
                <a:cs typeface="Lucida Sans Unicode"/>
              </a:rPr>
              <a:t>Senior:</a:t>
            </a:r>
            <a:r>
              <a:rPr dirty="0" sz="2450" spc="-145">
                <a:latin typeface="Lucida Sans Unicode"/>
                <a:cs typeface="Lucida Sans Unicode"/>
              </a:rPr>
              <a:t> </a:t>
            </a:r>
            <a:r>
              <a:rPr dirty="0" sz="2450" spc="-114">
                <a:latin typeface="Lucida Sans Unicode"/>
                <a:cs typeface="Lucida Sans Unicode"/>
              </a:rPr>
              <a:t>$55,763</a:t>
            </a:r>
            <a:endParaRPr sz="2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905" y="4025231"/>
            <a:ext cx="16308156" cy="790698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2431" y="3020916"/>
            <a:ext cx="16611045" cy="844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72843" y="747840"/>
            <a:ext cx="6715759" cy="8826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600">
                <a:solidFill>
                  <a:srgbClr val="111111"/>
                </a:solidFill>
              </a:rPr>
              <a:t>Power</a:t>
            </a:r>
            <a:r>
              <a:rPr dirty="0" sz="5600" spc="-409">
                <a:solidFill>
                  <a:srgbClr val="111111"/>
                </a:solidFill>
              </a:rPr>
              <a:t> </a:t>
            </a:r>
            <a:r>
              <a:rPr dirty="0" sz="5600" spc="90">
                <a:solidFill>
                  <a:srgbClr val="111111"/>
                </a:solidFill>
              </a:rPr>
              <a:t>BI</a:t>
            </a:r>
            <a:r>
              <a:rPr dirty="0" sz="5600" spc="-545">
                <a:solidFill>
                  <a:srgbClr val="111111"/>
                </a:solidFill>
              </a:rPr>
              <a:t> </a:t>
            </a:r>
            <a:r>
              <a:rPr dirty="0" sz="5600" spc="-75">
                <a:solidFill>
                  <a:srgbClr val="000000"/>
                </a:solidFill>
              </a:rPr>
              <a:t>Dashboard</a:t>
            </a:r>
            <a:endParaRPr sz="5600"/>
          </a:p>
        </p:txBody>
      </p:sp>
      <p:sp>
        <p:nvSpPr>
          <p:cNvPr id="5" name="object 5" descr=""/>
          <p:cNvSpPr txBox="1"/>
          <p:nvPr/>
        </p:nvSpPr>
        <p:spPr>
          <a:xfrm>
            <a:off x="987794" y="2262951"/>
            <a:ext cx="7887970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60">
                <a:latin typeface="Lucida Sans Unicode"/>
                <a:cs typeface="Lucida Sans Unicode"/>
              </a:rPr>
              <a:t>Interactive</a:t>
            </a:r>
            <a:r>
              <a:rPr dirty="0" sz="2350" spc="-75">
                <a:latin typeface="Lucida Sans Unicode"/>
                <a:cs typeface="Lucida Sans Unicode"/>
              </a:rPr>
              <a:t> </a:t>
            </a:r>
            <a:r>
              <a:rPr dirty="0" sz="2350" spc="-100">
                <a:latin typeface="Lucida Sans Unicode"/>
                <a:cs typeface="Lucida Sans Unicode"/>
              </a:rPr>
              <a:t>visualization</a:t>
            </a:r>
            <a:r>
              <a:rPr dirty="0" sz="2350" spc="-45">
                <a:latin typeface="Lucida Sans Unicode"/>
                <a:cs typeface="Lucida Sans Unicode"/>
              </a:rPr>
              <a:t> </a:t>
            </a:r>
            <a:r>
              <a:rPr dirty="0" sz="2350" spc="-90">
                <a:latin typeface="Lucida Sans Unicode"/>
                <a:cs typeface="Lucida Sans Unicode"/>
              </a:rPr>
              <a:t>of</a:t>
            </a:r>
            <a:r>
              <a:rPr dirty="0" sz="2350" spc="-95">
                <a:latin typeface="Lucida Sans Unicode"/>
                <a:cs typeface="Lucida Sans Unicode"/>
              </a:rPr>
              <a:t> </a:t>
            </a:r>
            <a:r>
              <a:rPr dirty="0" sz="2350" spc="-35">
                <a:latin typeface="Lucida Sans Unicode"/>
                <a:cs typeface="Lucida Sans Unicode"/>
              </a:rPr>
              <a:t>key</a:t>
            </a:r>
            <a:r>
              <a:rPr dirty="0" sz="2350" spc="-90">
                <a:latin typeface="Lucida Sans Unicode"/>
                <a:cs typeface="Lucida Sans Unicode"/>
              </a:rPr>
              <a:t> </a:t>
            </a:r>
            <a:r>
              <a:rPr dirty="0" sz="2350" spc="-95">
                <a:latin typeface="Lucida Sans Unicode"/>
                <a:cs typeface="Lucida Sans Unicode"/>
              </a:rPr>
              <a:t>customer</a:t>
            </a:r>
            <a:r>
              <a:rPr dirty="0" sz="2350" spc="-85">
                <a:latin typeface="Lucida Sans Unicode"/>
                <a:cs typeface="Lucida Sans Unicode"/>
              </a:rPr>
              <a:t> behavior</a:t>
            </a:r>
            <a:r>
              <a:rPr dirty="0" sz="2350" spc="-75">
                <a:latin typeface="Lucida Sans Unicode"/>
                <a:cs typeface="Lucida Sans Unicode"/>
              </a:rPr>
              <a:t> </a:t>
            </a:r>
            <a:r>
              <a:rPr dirty="0" sz="2350" spc="-50">
                <a:latin typeface="Lucida Sans Unicode"/>
                <a:cs typeface="Lucida Sans Unicode"/>
              </a:rPr>
              <a:t>metrics.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448629" y="4123458"/>
            <a:ext cx="1190625" cy="763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800" spc="-430">
                <a:solidFill>
                  <a:srgbClr val="0F2191"/>
                </a:solidFill>
                <a:latin typeface="Lucida Sans Unicode"/>
                <a:cs typeface="Lucida Sans Unicode"/>
              </a:rPr>
              <a:t>3.9K</a:t>
            </a:r>
            <a:endParaRPr sz="48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35940" y="5797316"/>
            <a:ext cx="356806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465">
                <a:solidFill>
                  <a:srgbClr val="773357"/>
                </a:solidFill>
                <a:latin typeface="Lucida Sans Unicode"/>
                <a:cs typeface="Lucida Sans Unicode"/>
              </a:rPr>
              <a:t>96</a:t>
            </a:r>
            <a:r>
              <a:rPr dirty="0" sz="1700" spc="10">
                <a:solidFill>
                  <a:srgbClr val="773357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229">
                <a:solidFill>
                  <a:srgbClr val="464646"/>
                </a:solidFill>
                <a:latin typeface="Lucida Sans Unicode"/>
                <a:cs typeface="Lucida Sans Unicode"/>
              </a:rPr>
              <a:t>of</a:t>
            </a:r>
            <a:r>
              <a:rPr dirty="0" sz="1700" spc="35">
                <a:solidFill>
                  <a:srgbClr val="464646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130">
                <a:solidFill>
                  <a:srgbClr val="494949"/>
                </a:solidFill>
                <a:latin typeface="Lucida Sans Unicode"/>
                <a:cs typeface="Lucida Sans Unicode"/>
              </a:rPr>
              <a:t>Customer</a:t>
            </a:r>
            <a:r>
              <a:rPr dirty="0" sz="1700" spc="-20">
                <a:solidFill>
                  <a:srgbClr val="494949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114">
                <a:solidFill>
                  <a:srgbClr val="56344F"/>
                </a:solidFill>
                <a:latin typeface="Lucida Sans Unicode"/>
                <a:cs typeface="Lucida Sans Unicode"/>
              </a:rPr>
              <a:t>by</a:t>
            </a:r>
            <a:r>
              <a:rPr dirty="0" sz="1700" spc="-20">
                <a:solidFill>
                  <a:srgbClr val="56344F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105">
                <a:solidFill>
                  <a:srgbClr val="424242"/>
                </a:solidFill>
                <a:latin typeface="Lucida Sans Unicode"/>
                <a:cs typeface="Lucida Sans Unicode"/>
              </a:rPr>
              <a:t>Subscription</a:t>
            </a:r>
            <a:r>
              <a:rPr dirty="0" sz="1700" spc="45">
                <a:solidFill>
                  <a:srgbClr val="424242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10">
                <a:solidFill>
                  <a:srgbClr val="72465D"/>
                </a:solidFill>
                <a:latin typeface="Lucida Sans Unicode"/>
                <a:cs typeface="Lucida Sans Unicode"/>
              </a:rPr>
              <a:t>Status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54423"/>
            <a:ext cx="7539038" cy="987614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1775" y="8443726"/>
            <a:ext cx="452342" cy="38532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1775" y="6701370"/>
            <a:ext cx="452342" cy="38532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1775" y="4959013"/>
            <a:ext cx="452342" cy="38532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11775" y="3216657"/>
            <a:ext cx="460718" cy="40208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44763" y="1960150"/>
            <a:ext cx="385328" cy="54448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97105" y="2110930"/>
            <a:ext cx="351821" cy="40208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24317" y="2102555"/>
            <a:ext cx="326691" cy="410458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19064" y="2102555"/>
            <a:ext cx="351821" cy="39370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367189" y="2102555"/>
            <a:ext cx="318314" cy="402082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824735" y="2110930"/>
            <a:ext cx="360198" cy="39370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251955" y="2102555"/>
            <a:ext cx="393705" cy="410458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721052" y="2102555"/>
            <a:ext cx="603123" cy="402082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407936" y="2094178"/>
            <a:ext cx="603123" cy="410458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086455" y="2110930"/>
            <a:ext cx="360198" cy="393705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530416" y="2110930"/>
            <a:ext cx="351821" cy="385328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957624" y="1951774"/>
            <a:ext cx="393705" cy="552863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7348165" y="2110930"/>
            <a:ext cx="376951" cy="393705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808877" y="2110930"/>
            <a:ext cx="351821" cy="385328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8236096" y="2110930"/>
            <a:ext cx="318314" cy="393705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9553708" y="1750597"/>
            <a:ext cx="3944620" cy="24949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392430">
              <a:lnSpc>
                <a:spcPct val="100000"/>
              </a:lnSpc>
              <a:spcBef>
                <a:spcPts val="105"/>
              </a:spcBef>
              <a:tabLst>
                <a:tab pos="659130" algn="l"/>
                <a:tab pos="2045970" algn="l"/>
              </a:tabLst>
            </a:pPr>
            <a:r>
              <a:rPr dirty="0" sz="5800" spc="-50">
                <a:solidFill>
                  <a:srgbClr val="161616"/>
                </a:solidFill>
                <a:latin typeface="Lucida Sans Unicode"/>
                <a:cs typeface="Lucida Sans Unicode"/>
              </a:rPr>
              <a:t>i</a:t>
            </a:r>
            <a:r>
              <a:rPr dirty="0" sz="5800">
                <a:solidFill>
                  <a:srgbClr val="161616"/>
                </a:solidFill>
                <a:latin typeface="Lucida Sans Unicode"/>
                <a:cs typeface="Lucida Sans Unicode"/>
              </a:rPr>
              <a:t>	</a:t>
            </a:r>
            <a:r>
              <a:rPr dirty="0" sz="5800" spc="125">
                <a:latin typeface="Lucida Sans Unicode"/>
                <a:cs typeface="Lucida Sans Unicode"/>
              </a:rPr>
              <a:t>es</a:t>
            </a:r>
            <a:r>
              <a:rPr dirty="0" sz="5800">
                <a:latin typeface="Lucida Sans Unicode"/>
                <a:cs typeface="Lucida Sans Unicode"/>
              </a:rPr>
              <a:t>	</a:t>
            </a:r>
            <a:r>
              <a:rPr dirty="0" sz="5800" spc="35">
                <a:solidFill>
                  <a:srgbClr val="111111"/>
                </a:solidFill>
                <a:latin typeface="Lucida Sans Unicode"/>
                <a:cs typeface="Lucida Sans Unicode"/>
              </a:rPr>
              <a:t>Re</a:t>
            </a:r>
            <a:endParaRPr sz="5800">
              <a:latin typeface="Lucida Sans Unicode"/>
              <a:cs typeface="Lucida Sans Unicode"/>
            </a:endParaRPr>
          </a:p>
          <a:p>
            <a:pPr algn="ctr" marR="363855">
              <a:lnSpc>
                <a:spcPct val="100000"/>
              </a:lnSpc>
              <a:spcBef>
                <a:spcPts val="3885"/>
              </a:spcBef>
            </a:pPr>
            <a:r>
              <a:rPr dirty="0" sz="3100" spc="140">
                <a:latin typeface="Calibri"/>
                <a:cs typeface="Calibri"/>
              </a:rPr>
              <a:t>Boost</a:t>
            </a:r>
            <a:r>
              <a:rPr dirty="0" sz="3100" spc="254">
                <a:latin typeface="Calibri"/>
                <a:cs typeface="Calibri"/>
              </a:rPr>
              <a:t> </a:t>
            </a:r>
            <a:r>
              <a:rPr dirty="0" sz="3100" spc="140">
                <a:latin typeface="Calibri"/>
                <a:cs typeface="Calibri"/>
              </a:rPr>
              <a:t>Subscriptions</a:t>
            </a:r>
            <a:endParaRPr sz="31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810"/>
              </a:spcBef>
            </a:pPr>
            <a:r>
              <a:rPr dirty="0" sz="2550">
                <a:latin typeface="Calibri"/>
                <a:cs typeface="Calibri"/>
              </a:rPr>
              <a:t>Promote</a:t>
            </a:r>
            <a:r>
              <a:rPr dirty="0" sz="2550" spc="365">
                <a:latin typeface="Calibri"/>
                <a:cs typeface="Calibri"/>
              </a:rPr>
              <a:t> </a:t>
            </a:r>
            <a:r>
              <a:rPr dirty="0" sz="2550" spc="75">
                <a:latin typeface="Calibri"/>
                <a:cs typeface="Calibri"/>
              </a:rPr>
              <a:t>exclusive</a:t>
            </a:r>
            <a:r>
              <a:rPr dirty="0" sz="2550" spc="325">
                <a:latin typeface="Calibri"/>
                <a:cs typeface="Calibri"/>
              </a:rPr>
              <a:t> </a:t>
            </a:r>
            <a:r>
              <a:rPr dirty="0" sz="2550" spc="45">
                <a:latin typeface="Calibri"/>
                <a:cs typeface="Calibri"/>
              </a:rPr>
              <a:t>benefits.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552632" y="4574217"/>
            <a:ext cx="5075555" cy="4879975"/>
          </a:xfrm>
          <a:prstGeom prst="rect">
            <a:avLst/>
          </a:prstGeom>
        </p:spPr>
        <p:txBody>
          <a:bodyPr wrap="square" lIns="0" tIns="28638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2255"/>
              </a:spcBef>
            </a:pPr>
            <a:r>
              <a:rPr dirty="0" sz="3150" spc="135">
                <a:latin typeface="Calibri"/>
                <a:cs typeface="Calibri"/>
              </a:rPr>
              <a:t>Customer</a:t>
            </a:r>
            <a:r>
              <a:rPr dirty="0" sz="3150" spc="175">
                <a:latin typeface="Calibri"/>
                <a:cs typeface="Calibri"/>
              </a:rPr>
              <a:t> </a:t>
            </a:r>
            <a:r>
              <a:rPr dirty="0" sz="3150" spc="100">
                <a:latin typeface="Calibri"/>
                <a:cs typeface="Calibri"/>
              </a:rPr>
              <a:t>Loyalty</a:t>
            </a:r>
            <a:r>
              <a:rPr dirty="0" sz="3150" spc="210">
                <a:latin typeface="Calibri"/>
                <a:cs typeface="Calibri"/>
              </a:rPr>
              <a:t> </a:t>
            </a:r>
            <a:r>
              <a:rPr dirty="0" sz="3150" spc="75">
                <a:latin typeface="Calibri"/>
                <a:cs typeface="Calibri"/>
              </a:rPr>
              <a:t>Programs</a:t>
            </a:r>
            <a:endParaRPr sz="315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1750"/>
              </a:spcBef>
            </a:pPr>
            <a:r>
              <a:rPr dirty="0" sz="2600">
                <a:latin typeface="Calibri"/>
                <a:cs typeface="Calibri"/>
              </a:rPr>
              <a:t>Reward</a:t>
            </a:r>
            <a:r>
              <a:rPr dirty="0" sz="2600" spc="2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repeat</a:t>
            </a:r>
            <a:r>
              <a:rPr dirty="0" sz="2600" spc="295">
                <a:latin typeface="Calibri"/>
                <a:cs typeface="Calibri"/>
              </a:rPr>
              <a:t> </a:t>
            </a:r>
            <a:r>
              <a:rPr dirty="0" sz="2600" spc="40">
                <a:latin typeface="Calibri"/>
                <a:cs typeface="Calibri"/>
              </a:rPr>
              <a:t>buyers.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10"/>
              </a:spcBef>
            </a:pP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900">
                <a:latin typeface="Lucida Sans Unicode"/>
                <a:cs typeface="Lucida Sans Unicode"/>
              </a:rPr>
              <a:t>Review</a:t>
            </a:r>
            <a:r>
              <a:rPr dirty="0" sz="2900" spc="-140">
                <a:latin typeface="Lucida Sans Unicode"/>
                <a:cs typeface="Lucida Sans Unicode"/>
              </a:rPr>
              <a:t> </a:t>
            </a:r>
            <a:r>
              <a:rPr dirty="0" sz="2900" spc="-10">
                <a:latin typeface="Lucida Sans Unicode"/>
                <a:cs typeface="Lucida Sans Unicode"/>
              </a:rPr>
              <a:t>Discount</a:t>
            </a:r>
            <a:r>
              <a:rPr dirty="0" sz="2900" spc="-150"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080808"/>
                </a:solidFill>
                <a:latin typeface="Lucida Sans Unicode"/>
                <a:cs typeface="Lucida Sans Unicode"/>
              </a:rPr>
              <a:t>Policy</a:t>
            </a:r>
            <a:endParaRPr sz="2900">
              <a:latin typeface="Lucida Sans Unicode"/>
              <a:cs typeface="Lucida Sans Unicode"/>
            </a:endParaRPr>
          </a:p>
          <a:p>
            <a:pPr marL="17780">
              <a:lnSpc>
                <a:spcPct val="100000"/>
              </a:lnSpc>
              <a:spcBef>
                <a:spcPts val="1985"/>
              </a:spcBef>
            </a:pPr>
            <a:r>
              <a:rPr dirty="0" sz="2450" spc="-10">
                <a:latin typeface="Lucida Sans Unicode"/>
                <a:cs typeface="Lucida Sans Unicode"/>
              </a:rPr>
              <a:t>Balance</a:t>
            </a:r>
            <a:r>
              <a:rPr dirty="0" sz="2450" spc="-185">
                <a:latin typeface="Lucida Sans Unicode"/>
                <a:cs typeface="Lucida Sans Unicode"/>
              </a:rPr>
              <a:t> </a:t>
            </a:r>
            <a:r>
              <a:rPr dirty="0" sz="2450">
                <a:latin typeface="Lucida Sans Unicode"/>
                <a:cs typeface="Lucida Sans Unicode"/>
              </a:rPr>
              <a:t>sales</a:t>
            </a:r>
            <a:r>
              <a:rPr dirty="0" sz="2450" spc="-85">
                <a:latin typeface="Lucida Sans Unicode"/>
                <a:cs typeface="Lucida Sans Unicode"/>
              </a:rPr>
              <a:t> </a:t>
            </a:r>
            <a:r>
              <a:rPr dirty="0" sz="2450" spc="-135">
                <a:latin typeface="Lucida Sans Unicode"/>
                <a:cs typeface="Lucida Sans Unicode"/>
              </a:rPr>
              <a:t>with</a:t>
            </a:r>
            <a:r>
              <a:rPr dirty="0" sz="2450" spc="-75">
                <a:latin typeface="Lucida Sans Unicode"/>
                <a:cs typeface="Lucida Sans Unicode"/>
              </a:rPr>
              <a:t> </a:t>
            </a:r>
            <a:r>
              <a:rPr dirty="0" sz="2450" spc="-130">
                <a:latin typeface="Lucida Sans Unicode"/>
                <a:cs typeface="Lucida Sans Unicode"/>
              </a:rPr>
              <a:t>margin</a:t>
            </a:r>
            <a:r>
              <a:rPr dirty="0" sz="2450" spc="-65">
                <a:latin typeface="Lucida Sans Unicode"/>
                <a:cs typeface="Lucida Sans Unicode"/>
              </a:rPr>
              <a:t> </a:t>
            </a:r>
            <a:r>
              <a:rPr dirty="0" sz="2450" spc="-10">
                <a:latin typeface="Lucida Sans Unicode"/>
                <a:cs typeface="Lucida Sans Unicode"/>
              </a:rPr>
              <a:t>control.</a:t>
            </a:r>
            <a:endParaRPr sz="24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600"/>
              </a:spcBef>
            </a:pPr>
            <a:endParaRPr sz="2450">
              <a:latin typeface="Lucida Sans Unicode"/>
              <a:cs typeface="Lucida Sans Unicode"/>
            </a:endParaRPr>
          </a:p>
          <a:p>
            <a:pPr marL="26670">
              <a:lnSpc>
                <a:spcPct val="100000"/>
              </a:lnSpc>
            </a:pPr>
            <a:r>
              <a:rPr dirty="0" sz="2850" spc="-25">
                <a:latin typeface="Lucida Sans Unicode"/>
                <a:cs typeface="Lucida Sans Unicode"/>
              </a:rPr>
              <a:t>Targeted</a:t>
            </a:r>
            <a:r>
              <a:rPr dirty="0" sz="2850" spc="-175">
                <a:latin typeface="Lucida Sans Unicode"/>
                <a:cs typeface="Lucida Sans Unicode"/>
              </a:rPr>
              <a:t> </a:t>
            </a:r>
            <a:r>
              <a:rPr dirty="0" sz="2850" spc="-10">
                <a:latin typeface="Lucida Sans Unicode"/>
                <a:cs typeface="Lucida Sans Unicode"/>
              </a:rPr>
              <a:t>Marketing</a:t>
            </a:r>
            <a:endParaRPr sz="2850">
              <a:latin typeface="Lucida Sans Unicode"/>
              <a:cs typeface="Lucida Sans Unicode"/>
            </a:endParaRPr>
          </a:p>
          <a:p>
            <a:pPr marL="17145">
              <a:lnSpc>
                <a:spcPct val="100000"/>
              </a:lnSpc>
              <a:spcBef>
                <a:spcPts val="1945"/>
              </a:spcBef>
            </a:pPr>
            <a:r>
              <a:rPr dirty="0" sz="2500" spc="-55">
                <a:latin typeface="Lucida Sans Unicode"/>
                <a:cs typeface="Lucida Sans Unicode"/>
              </a:rPr>
              <a:t>Focus</a:t>
            </a:r>
            <a:r>
              <a:rPr dirty="0" sz="2500" spc="-114">
                <a:latin typeface="Lucida Sans Unicode"/>
                <a:cs typeface="Lucida Sans Unicode"/>
              </a:rPr>
              <a:t> </a:t>
            </a:r>
            <a:r>
              <a:rPr dirty="0" sz="2500" spc="-130">
                <a:latin typeface="Lucida Sans Unicode"/>
                <a:cs typeface="Lucida Sans Unicode"/>
              </a:rPr>
              <a:t>on</a:t>
            </a:r>
            <a:r>
              <a:rPr dirty="0" sz="2500" spc="-185">
                <a:latin typeface="Lucida Sans Unicode"/>
                <a:cs typeface="Lucida Sans Unicode"/>
              </a:rPr>
              <a:t> </a:t>
            </a:r>
            <a:r>
              <a:rPr dirty="0" sz="2500" spc="-150">
                <a:latin typeface="Lucida Sans Unicode"/>
                <a:cs typeface="Lucida Sans Unicode"/>
              </a:rPr>
              <a:t>high-</a:t>
            </a:r>
            <a:r>
              <a:rPr dirty="0" sz="2500" spc="-125">
                <a:latin typeface="Lucida Sans Unicode"/>
                <a:cs typeface="Lucida Sans Unicode"/>
              </a:rPr>
              <a:t>revenue</a:t>
            </a:r>
            <a:r>
              <a:rPr dirty="0" sz="2500" spc="5">
                <a:latin typeface="Lucida Sans Unicode"/>
                <a:cs typeface="Lucida Sans Unicode"/>
              </a:rPr>
              <a:t> </a:t>
            </a:r>
            <a:r>
              <a:rPr dirty="0" sz="2500" spc="-45">
                <a:latin typeface="Lucida Sans Unicode"/>
                <a:cs typeface="Lucida Sans Unicode"/>
              </a:rPr>
              <a:t>age</a:t>
            </a:r>
            <a:r>
              <a:rPr dirty="0" sz="2500" spc="-140">
                <a:latin typeface="Lucida Sans Unicode"/>
                <a:cs typeface="Lucida Sans Unicode"/>
              </a:rPr>
              <a:t> </a:t>
            </a:r>
            <a:r>
              <a:rPr dirty="0" sz="2500" spc="-114">
                <a:latin typeface="Lucida Sans Unicode"/>
                <a:cs typeface="Lucida Sans Unicode"/>
              </a:rPr>
              <a:t>groups.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ati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2025-12-22T13:24:08Z</dcterms:created>
  <dcterms:modified xsi:type="dcterms:W3CDTF">2025-12-22T13:24:08Z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2025-12-22T00:00:00Z</vt:filetime>
  </property>
  <property fmtid="{D5CDD505-2E9C-101B-9397-08002B2CF9AE}" pid="3" name="LastSaved">
    <vt:filetime>2025-12-22T00:00:00Z</vt:filetime>
  </property>
  <property fmtid="{D5CDD505-2E9C-101B-9397-08002B2CF9AE}" pid="4" name="Producer">
    <vt:lpwstr>iLovePDF</vt:lpwstr>
  </property>
</Properties>
</file>